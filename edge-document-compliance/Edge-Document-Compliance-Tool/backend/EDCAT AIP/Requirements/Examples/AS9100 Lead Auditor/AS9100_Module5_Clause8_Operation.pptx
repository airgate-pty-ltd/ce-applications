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5: Clause 8 – Operation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AS9100 Lead Auditor Training | Day 2 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8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Largest clause: core of product/service delivery</a:t>
            </a:r>
          </a:p>
          <a:p>
            <a:r>
              <a:t>Must audit with high sampling and strong risk-based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 Operational Planning &amp;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product realization with risk-based thinking</a:t>
            </a:r>
          </a:p>
          <a:p>
            <a:r>
              <a:t>Controls, resources, verification, traceability</a:t>
            </a:r>
          </a:p>
          <a:p>
            <a:r>
              <a:t>Audit for missing control plans or inconsistent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8.1.1 Operational 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 to aerospace: bullet list of risks</a:t>
            </a:r>
          </a:p>
          <a:p>
            <a:r>
              <a:t>Include: capacity, capability, supply chain, human factors</a:t>
            </a:r>
          </a:p>
          <a:p>
            <a:r>
              <a:t>Audit: Show risk response plan per major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8.2 Requirements for Products &amp;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needs must be defined, reviewed, confirmed</a:t>
            </a:r>
          </a:p>
          <a:p>
            <a:r>
              <a:t>Contract Review: Explicit clauses, flowdowns, capabilities</a:t>
            </a:r>
          </a:p>
          <a:p>
            <a:r>
              <a:t>Audit test: Compare PO to internal spec—any gaps?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8.3 Design &amp;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be excluded only if NO design responsibility</a:t>
            </a:r>
          </a:p>
          <a:p>
            <a:r>
              <a:t>Includes planning, inputs, controls, outputs, changes</a:t>
            </a:r>
          </a:p>
          <a:p>
            <a:r>
              <a:t>Audit: FMEA, DVP&amp;R, traceable inputs, change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8.3 Audit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inputs linked to requirements</a:t>
            </a:r>
          </a:p>
          <a:p>
            <a:r>
              <a:t>Verification vs validation evidence</a:t>
            </a:r>
          </a:p>
          <a:p>
            <a:r>
              <a:t>Change control: impact analysis, approval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8.4 Control of External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Risk-based supplier control</a:t>
            </a:r>
          </a:p>
          <a:p>
            <a:r>
              <a:t>Approval, monitoring, re-evaluation</a:t>
            </a:r>
          </a:p>
          <a:p>
            <a:r>
              <a:t>Audit: FAI from sub-tier, e-cert integrity, nonconformances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 Production &amp; Service Provision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special processes, traveler flow, job control</a:t>
            </a:r>
          </a:p>
          <a:p>
            <a:r>
              <a:t>Marking, preservation, traceability</a:t>
            </a:r>
          </a:p>
          <a:p>
            <a:r>
              <a:t>Audit clue: expired material, uncontrolled rework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8.5.1 Control of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of documented work instructions, criteria, qualified staff</a:t>
            </a:r>
          </a:p>
          <a:p>
            <a:r>
              <a:t>FOD control, accountable labeling, maintenance</a:t>
            </a:r>
          </a:p>
          <a:p>
            <a:r>
              <a:t>Audit: Walk production line for unauthorized processes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8.5.1.1 Prevention of FOD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Defined FOD zones, controls, inspections</a:t>
            </a:r>
          </a:p>
          <a:p>
            <a:r>
              <a:t>Audit: Employee FOD awareness, recent incident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8.5.1.2 Control of Production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Tooling maintained, calibrated if measuring, traceable</a:t>
            </a:r>
          </a:p>
          <a:p>
            <a:r>
              <a:t>Audit: Review log of tool life, assigned ownership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8.5.1.3 Control of Temporary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Masking, simulation, temporary bypass = controlled</a:t>
            </a:r>
          </a:p>
          <a:p>
            <a:r>
              <a:t>Audit: Marked clearly, records updated post-removal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8.5.2 Identification and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 part IDs, serialized lots, traveler integrity</a:t>
            </a:r>
          </a:p>
          <a:p>
            <a:r>
              <a:t>Audit: Does trace link to FAI, CoC, and shipment record?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8.5.3 Property Belonging to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Must be identified, verified, protected</a:t>
            </a:r>
          </a:p>
          <a:p>
            <a:r>
              <a:t>Audit: Evidence of reporting damage or loss?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8.5.4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Handling, packaging, storage, protection</a:t>
            </a:r>
          </a:p>
          <a:p>
            <a:r>
              <a:t>Audit: Visual walk to validate controls in place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8.5.5 Post-Delivery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Install, maintain, warranty, recalls</a:t>
            </a:r>
          </a:p>
          <a:p>
            <a:r>
              <a:t>Audit: Post-shipment issue log reviewed regularly?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8.5.6 Control of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to production = re-validate risk and impact</a:t>
            </a:r>
          </a:p>
          <a:p>
            <a:r>
              <a:t>Audit: Who can approve, what’s the workflow?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8.6 Release of Products &amp;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Documented evidence of conformity required</a:t>
            </a:r>
          </a:p>
          <a:p>
            <a:r>
              <a:t>Audit: Lot release tied to what checks, who signs?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8.7 Control of Nonconforming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ID, contain, disposition, escalate</a:t>
            </a:r>
          </a:p>
          <a:p>
            <a:r>
              <a:t>Audit: Review NCRs, escapes, use of rework paths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8 Quiz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Clause covering FOD?</a:t>
            </a:r>
          </a:p>
          <a:p>
            <a:r>
              <a:t>2. Required evidence for product release?</a:t>
            </a:r>
          </a:p>
          <a:p>
            <a:r>
              <a:t>3. What is required for tooling control?</a:t>
            </a:r>
          </a:p>
          <a:p>
            <a:r>
              <a:t>4. How is post-delivery feedback captured?</a:t>
            </a:r>
          </a:p>
          <a:p>
            <a:r>
              <a:t>5. One example of temporary means?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