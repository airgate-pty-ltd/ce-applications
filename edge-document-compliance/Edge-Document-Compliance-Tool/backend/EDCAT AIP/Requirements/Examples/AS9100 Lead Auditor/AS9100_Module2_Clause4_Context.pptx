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2: Clause 4 – Context, Interested Parties &amp; 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10:30–12:30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Clause 4 = Organizational Mirror</a:t>
            </a:r>
          </a:p>
          <a:p>
            <a:r>
              <a:t>Defines who we are, who cares, and why it matters</a:t>
            </a:r>
          </a:p>
          <a:p>
            <a:r>
              <a:t>Downstream clauses depend on accurate reflection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&amp; External Issues (4.1)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Internal: Culture, Capital, Capacity, Competence</a:t>
            </a:r>
          </a:p>
          <a:p>
            <a:r>
              <a:t>External: Regulatory, Ecological, Economic, Social</a:t>
            </a:r>
          </a:p>
          <a:p>
            <a:r>
              <a:t>Use PESTLE + SWOT combined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Example – Composites 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Strength: Lay-up skill; Weakness: Autoclave size</a:t>
            </a:r>
          </a:p>
          <a:p>
            <a:r>
              <a:t>New environmental VOC law affects adhesives</a:t>
            </a:r>
          </a:p>
          <a:p>
            <a:r>
              <a:t>Response: Out-of-autoclave switch + scope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Radar-Scan Drill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List 8 external issues</a:t>
            </a:r>
          </a:p>
          <a:p>
            <a:r>
              <a:t>Step 2: Score Influence &amp; Uncertainty (1–5 scale)</a:t>
            </a:r>
          </a:p>
          <a:p>
            <a:r>
              <a:t>Step 3: Highlight high-impact hotspots</a:t>
            </a:r>
          </a:p>
          <a:p>
            <a:r>
              <a:t>Debrief: Link each hotspot to other clauses (6, 8, 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Monitoring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IATA Forecasts, ICAO State Letters, ISO TC20</a:t>
            </a:r>
          </a:p>
          <a:p>
            <a:r>
              <a:t>Warranty Data, Commodity Dashboards, Bots</a:t>
            </a:r>
          </a:p>
          <a:p>
            <a:r>
              <a:t>Audit probe: Is your issue log real-time or stale?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– Titanium Tariff Ambush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Jet builder ignored Russia sanctions</a:t>
            </a:r>
          </a:p>
          <a:p>
            <a:r>
              <a:t>Lead time doubled; no mitigation plan</a:t>
            </a:r>
          </a:p>
          <a:p>
            <a:r>
              <a:t>Result: Major NCR + dual-source strategy after-the-fact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Interested Parties (4.2)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just customers: Lessors, Employees, Community</a:t>
            </a:r>
          </a:p>
          <a:p>
            <a:r>
              <a:t>Expectations must be explicit, not vague</a:t>
            </a:r>
          </a:p>
          <a:p>
            <a:r>
              <a:t>Audit probe: Map expectation to procedure/KPI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Grid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6 parties, 1 expectation each</a:t>
            </a:r>
          </a:p>
          <a:p>
            <a:r>
              <a:t>Share surprising ones (e.g., APU curfew)</a:t>
            </a:r>
          </a:p>
          <a:p>
            <a:r>
              <a:t>Verify against company docs or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Rep Calls, Community Roundtables, Cyber KPIs</a:t>
            </a:r>
          </a:p>
          <a:p>
            <a:r>
              <a:t>Evidence of engagement must exist</a:t>
            </a:r>
          </a:p>
          <a:p>
            <a:r>
              <a:t>Case: Delayed SB docs = $80M lost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Statement (4.3)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 declare: Product, Service, Location, Exclusion Rationale</a:t>
            </a:r>
          </a:p>
          <a:p>
            <a:r>
              <a:t>Design exclusion only valid if no design activity</a:t>
            </a:r>
          </a:p>
          <a:p>
            <a:r>
              <a:t>Common audit issues: vague or outdated scope 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Management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Originator → Risk Review → DCR Workflow</a:t>
            </a:r>
          </a:p>
          <a:p>
            <a:r>
              <a:t>Signatures → Communicated → Controlled Release</a:t>
            </a:r>
          </a:p>
          <a:p>
            <a:r>
              <a:t>Audit test: Spot outdated scope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Approach (4.4)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Turtle, SIPOC, Salmon, or Digital Thread Maps</a:t>
            </a:r>
          </a:p>
          <a:p>
            <a:r>
              <a:t>Attributes: Inputs, Outputs, Risks, Controls, KPIs</a:t>
            </a:r>
          </a:p>
          <a:p>
            <a:r>
              <a:t>Case: Incoming inspection walk-through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Thread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 Serial, IoT IDs, CMM rev, SB compliance tag</a:t>
            </a:r>
          </a:p>
          <a:p>
            <a:r>
              <a:t>Audit: Trace lot 21-03-88 across digital systems</a:t>
            </a:r>
          </a:p>
          <a:p>
            <a:r>
              <a:t>Ask: Where is this recorded and linked?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Threading – Anchor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OTD dip → Risk → Clause 4 issue</a:t>
            </a:r>
          </a:p>
          <a:p>
            <a:r>
              <a:t>Learners map Clause 4 outputs to Clause 6/9 triggers</a:t>
            </a:r>
          </a:p>
          <a:p>
            <a:r>
              <a:t>Audit: Does the issue link forward &amp; backward?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Micro-Quiz – Rapid Fire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Internal/External Issue</a:t>
            </a:r>
          </a:p>
          <a:p>
            <a:r>
              <a:t>2. What is PESTLE?</a:t>
            </a:r>
          </a:p>
          <a:p>
            <a:r>
              <a:t>3. Are employees a stakeholder?</a:t>
            </a:r>
          </a:p>
          <a:p>
            <a:r>
              <a:t>4. Elements of a scope line</a:t>
            </a:r>
          </a:p>
          <a:p>
            <a:r>
              <a:t>5. Clause for design exclusion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Clause-4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Design exclusion mismatch</a:t>
            </a:r>
          </a:p>
          <a:p>
            <a:r>
              <a:t>2. Stale issue register</a:t>
            </a:r>
          </a:p>
          <a:p>
            <a:r>
              <a:t>3. Empty stakeholder map</a:t>
            </a:r>
          </a:p>
          <a:p>
            <a:r>
              <a:t>4. Supplier turtle missing</a:t>
            </a:r>
          </a:p>
          <a:p>
            <a:r>
              <a:t>5. Scope omits active bay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– Clause 4 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SkyLite Drones case</a:t>
            </a:r>
          </a:p>
          <a:p>
            <a:r>
              <a:t>Map issue → expectation → objective → scope change</a:t>
            </a:r>
          </a:p>
          <a:p>
            <a:r>
              <a:t>Facilitator debrief on SMART goal quality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Anchors: Know world, audience, boundary, flow</a:t>
            </a:r>
          </a:p>
          <a:p>
            <a:r>
              <a:t>Clause 4 is the mirror – polish it often</a:t>
            </a:r>
          </a:p>
          <a:p>
            <a:r>
              <a:t>Prep for Clause 5 after break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