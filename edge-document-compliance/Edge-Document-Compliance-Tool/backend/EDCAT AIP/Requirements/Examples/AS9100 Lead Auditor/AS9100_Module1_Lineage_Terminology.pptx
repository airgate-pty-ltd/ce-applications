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1: Lineage, Architecture &amp; Terminology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08:45–10:25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Lineage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1959 – MIL-Q-9858: Documented Quality Programs</a:t>
            </a:r>
          </a:p>
          <a:p>
            <a:r>
              <a:t>1963 – NASA NPG 5000: Systems Thinking</a:t>
            </a:r>
          </a:p>
          <a:p>
            <a:r>
              <a:t>1987 – ISO 9001: Civilian Specification</a:t>
            </a:r>
          </a:p>
          <a:p>
            <a:r>
              <a:t>1999 – AS9100 Rev A: Aerospace Focus</a:t>
            </a:r>
          </a:p>
          <a:p>
            <a:r>
              <a:t>2009 – Rev C: Risk, APQP Hints</a:t>
            </a:r>
          </a:p>
          <a:p>
            <a:r>
              <a:t>2016 – Rev D: ISO alignment + 4 Imperatives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Aerospace Imperatives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Product Safety – No unsafe articles</a:t>
            </a:r>
          </a:p>
          <a:p>
            <a:r>
              <a:t>2. Counterfeit Part Prevention – NDAA §818 driver</a:t>
            </a:r>
          </a:p>
          <a:p>
            <a:r>
              <a:t>3. Operational Risk Management (ORM) – Capacity, logistics, special reqs</a:t>
            </a:r>
          </a:p>
          <a:p>
            <a:r>
              <a:t>4. Configuration Management – Engineering and physical twin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Structure (HLS)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Clause 4: Context</a:t>
            </a:r>
          </a:p>
          <a:p>
            <a:r>
              <a:t>Clause 5: Leadership</a:t>
            </a:r>
          </a:p>
          <a:p>
            <a:r>
              <a:t>Clause 6: Planning</a:t>
            </a:r>
          </a:p>
          <a:p>
            <a:r>
              <a:t>Clause 7: Support</a:t>
            </a:r>
          </a:p>
          <a:p>
            <a:r>
              <a:t>Clause 8: Operation</a:t>
            </a:r>
          </a:p>
          <a:p>
            <a:r>
              <a:t>Clause 9: Performance Evaluation</a:t>
            </a:r>
          </a:p>
          <a:p>
            <a:r>
              <a:t>Clause 10: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– First 10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Item, Key Characteristic, Frozen Process, Special Process</a:t>
            </a:r>
          </a:p>
          <a:p>
            <a:r>
              <a:t>Escape, FAI, Concession vs Deviation, Human Factors</a:t>
            </a:r>
          </a:p>
          <a:p>
            <a:r>
              <a:t>Counterfeit Part, Objective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Learner Activity: Vocabulary Probes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complete terms 11–20 in your workbook</a:t>
            </a:r>
          </a:p>
          <a:p>
            <a:r>
              <a:t>Terms include: Delta FAI, FOD, Control Plan, Validation</a:t>
            </a:r>
          </a:p>
          <a:p>
            <a:r>
              <a:t>Craft realistic probe questions based on definitions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Activity: Definition Relay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Pair up and swap your probe questions</a:t>
            </a:r>
          </a:p>
          <a:p>
            <a:r>
              <a:t>Role-play: one audits, one responds as auditee</a:t>
            </a:r>
          </a:p>
          <a:p>
            <a:r>
              <a:t>Push for evidence, escalate probes logically</a:t>
            </a:r>
          </a:p>
          <a:p>
            <a:r>
              <a:t>Debrief: Open → Focused → Leading → Closed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Critical Item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2019: Machinist substitutes incorrect drill size</a:t>
            </a:r>
          </a:p>
          <a:p>
            <a:r>
              <a:t>Escape: Undetected variation in critical hole location</a:t>
            </a:r>
          </a:p>
          <a:p>
            <a:r>
              <a:t>Result: Fleet grounding, $6.4M cost, 2-month delay</a:t>
            </a:r>
          </a:p>
          <a:p>
            <a:r>
              <a:t>Root Causes: No critical item training, failed FAI logic, broken frozen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Micro-Quiz: Terminology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clause houses counterfeit-part prevention?</a:t>
            </a:r>
          </a:p>
          <a:p>
            <a:r>
              <a:t>True/False: ORM appears only in Clause 6?</a:t>
            </a:r>
          </a:p>
          <a:p>
            <a:r>
              <a:t>List one delta-FAI trigger</a:t>
            </a:r>
          </a:p>
          <a:p>
            <a:r>
              <a:t>Difference between concession and deviation?</a:t>
            </a:r>
          </a:p>
          <a:p>
            <a:r>
              <a:t>Document that defines objective evidence?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Major Findings (2019–2024)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CM Baseline Loss – Clause 8.1.2</a:t>
            </a:r>
          </a:p>
          <a:p>
            <a:r>
              <a:t>NADCAP Scope Creep – Clause 8.5.1</a:t>
            </a:r>
          </a:p>
          <a:p>
            <a:r>
              <a:t>FOD Ingestion Event – Clause 7.1.4</a:t>
            </a:r>
          </a:p>
          <a:p>
            <a:r>
              <a:t>Expired Material – Clause 7.1.5</a:t>
            </a:r>
          </a:p>
          <a:p>
            <a:r>
              <a:t>Counterfeit Memory Chips – Clause 8.4.2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Anchor Activity: Clause-Mapping Relay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grid: Term | Clause | KPI | Evidence</a:t>
            </a:r>
          </a:p>
          <a:p>
            <a:r>
              <a:t>Teams compete: speed vs accuracy</a:t>
            </a:r>
          </a:p>
          <a:p>
            <a:r>
              <a:t>Debrief emphasizes evidence sampling logic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&amp;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Stand, stretch, hydrate</a:t>
            </a:r>
          </a:p>
          <a:p>
            <a:r>
              <a:t>Write your biggest insight from this module</a:t>
            </a:r>
          </a:p>
          <a:p>
            <a:r>
              <a:t>Prepare your vocabulary review sheet for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