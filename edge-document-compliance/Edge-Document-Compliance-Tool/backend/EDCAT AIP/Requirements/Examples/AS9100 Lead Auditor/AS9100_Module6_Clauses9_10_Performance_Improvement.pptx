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6: Clauses 9 &amp; 10 – Performance &amp; Improvement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AS9100 Lead Auditor Training | Day 2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9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Evaluate QMS effectiveness</a:t>
            </a:r>
          </a:p>
          <a:p>
            <a:r>
              <a:t>Includes: monitoring, analysis, audits, and management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9.1 Monitoring, Measurement, Analysis,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Determine what, how, when to measure</a:t>
            </a:r>
          </a:p>
          <a:p>
            <a:r>
              <a:t>Ensure indicators link to objectives</a:t>
            </a:r>
          </a:p>
          <a:p>
            <a:r>
              <a:t>Audit: Trace KPI to data source, then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9.1.2 Customer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feedback must be evaluated</a:t>
            </a:r>
          </a:p>
          <a:p>
            <a:r>
              <a:t>Audit: complaint logs, surveys, OTD trends</a:t>
            </a:r>
          </a:p>
          <a:p>
            <a:r>
              <a:t>Look for closed-loop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9.2 Internal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 conformance and effectiveness</a:t>
            </a:r>
          </a:p>
          <a:p>
            <a:r>
              <a:t>Based on status and importance of processes</a:t>
            </a:r>
          </a:p>
          <a:p>
            <a:r>
              <a:t>Audit: Review schedule, findings, follow-ups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Execution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Checklist, notes, objective evidence, NCRs</a:t>
            </a:r>
          </a:p>
          <a:p>
            <a:r>
              <a:t>Audit probe: was audit scope sufficient?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9.3 Management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Inputs: performance, audit results, stakeholder needs</a:t>
            </a:r>
          </a:p>
          <a:p>
            <a:r>
              <a:t>Outputs: decisions, actions, resource planning</a:t>
            </a:r>
          </a:p>
          <a:p>
            <a:r>
              <a:t>Audit: review minutes, tracked outputs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10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Nonconformity, Corrective Action, Improvement</a:t>
            </a:r>
          </a:p>
          <a:p>
            <a:r>
              <a:t>Leads to root cause and prevention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10.2 Nonconformity and Corrective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Contain, correct, investigate, prevent</a:t>
            </a:r>
          </a:p>
          <a:p>
            <a:r>
              <a:t>Use root cause tools: 5 Whys, Fishbone</a:t>
            </a:r>
          </a:p>
          <a:p>
            <a:r>
              <a:t>Audit: Look for real RC, not symptom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Corrective Action Drill –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 real CAR: analyze RC depth, evidence, effectiveness</a:t>
            </a:r>
          </a:p>
          <a:p>
            <a:r>
              <a:t>Mark if issue reoccurred → incomplete correction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10.3 Continual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continual improvement trends</a:t>
            </a:r>
          </a:p>
          <a:p>
            <a:r>
              <a:t>Audit: Link CAPAs to performance KPIs</a:t>
            </a:r>
          </a:p>
          <a:p>
            <a:r>
              <a:t>Check for stagnation: no real CI = finding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9 &amp; 10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are the outputs of MRM?</a:t>
            </a:r>
          </a:p>
          <a:p>
            <a:r>
              <a:t>2. Name two ways customer satisfaction is evaluated.</a:t>
            </a:r>
          </a:p>
          <a:p>
            <a:r>
              <a:t>3. What triggers an internal audit frequency change?</a:t>
            </a:r>
          </a:p>
          <a:p>
            <a:r>
              <a:t>4. What clause houses root cause analysis?</a:t>
            </a:r>
          </a:p>
          <a:p>
            <a:r>
              <a:t>5. Define continual improvement in one sentence.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Findings Clauses 9 &amp;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MRM missing inputs (e.g., audit results)</a:t>
            </a:r>
          </a:p>
          <a:p>
            <a:r>
              <a:t>KPIs don’t align with objectives</a:t>
            </a:r>
          </a:p>
          <a:p>
            <a:r>
              <a:t>NCR root cause = ‘operator error’ only</a:t>
            </a:r>
          </a:p>
          <a:p>
            <a:r>
              <a:t>Audit program not risk-based</a:t>
            </a:r>
          </a:p>
          <a:p>
            <a:r>
              <a:t>Improvement unproven or undocumented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Wrap-Up: Performance &amp;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trails must show the feedback loop is working</a:t>
            </a:r>
          </a:p>
          <a:p>
            <a:r>
              <a:t>Findings in these clauses often indicate QMS maturity</a:t>
            </a:r>
          </a:p>
          <a:p>
            <a:r>
              <a:t>Get ready for ISO 19011 audit requirements next!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