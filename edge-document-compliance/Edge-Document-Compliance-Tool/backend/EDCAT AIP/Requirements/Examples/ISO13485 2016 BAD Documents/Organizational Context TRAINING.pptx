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72" r:id="rId4"/>
    <p:sldId id="258" r:id="rId5"/>
    <p:sldId id="266" r:id="rId6"/>
    <p:sldId id="259" r:id="rId7"/>
    <p:sldId id="265" r:id="rId8"/>
    <p:sldId id="260" r:id="rId9"/>
    <p:sldId id="267" r:id="rId10"/>
    <p:sldId id="262" r:id="rId11"/>
    <p:sldId id="268" r:id="rId12"/>
    <p:sldId id="261" r:id="rId13"/>
    <p:sldId id="269" r:id="rId14"/>
    <p:sldId id="263" r:id="rId15"/>
    <p:sldId id="270" r:id="rId16"/>
    <p:sldId id="264" r:id="rId17"/>
    <p:sldId id="271"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1484" autoAdjust="0"/>
  </p:normalViewPr>
  <p:slideViewPr>
    <p:cSldViewPr snapToGrid="0">
      <p:cViewPr varScale="1">
        <p:scale>
          <a:sx n="69" d="100"/>
          <a:sy n="69" d="100"/>
        </p:scale>
        <p:origin x="91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713274-3625-4ED9-933D-734540E1C83A}" type="datetimeFigureOut">
              <a:rPr lang="en-US" smtClean="0"/>
              <a:t>10/23/2022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E53314-2A7B-45C3-95DC-AEED89D59FB8}" type="slidenum">
              <a:rPr lang="en-US" smtClean="0"/>
              <a:t>‹#›</a:t>
            </a:fld>
            <a:endParaRPr lang="en-US" dirty="0"/>
          </a:p>
        </p:txBody>
      </p:sp>
    </p:spTree>
    <p:extLst>
      <p:ext uri="{BB962C8B-B14F-4D97-AF65-F5344CB8AC3E}">
        <p14:creationId xmlns:p14="http://schemas.microsoft.com/office/powerpoint/2010/main" val="25821655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ENSURE THER ORGANIZATIONAL CONTEXT top management identifies interested parties interested parties are those stakeholders that are affected by the company's quality management system. enter </a:t>
            </a:r>
          </a:p>
          <a:p>
            <a:r>
              <a:rPr lang="en-US" dirty="0"/>
              <a:t>in order to identify interested parties top management looks at the inputs and outputs regulatory requirements specific customer requirements employee needs top management needs and overall expectations. </a:t>
            </a:r>
          </a:p>
          <a:p>
            <a:r>
              <a:rPr lang="en-US" dirty="0"/>
              <a:t>Top management is then responsible to make sure the procedure is correct it is able to explain the necessary data to those interested parties and is updated regularly to reflect changes in the organizational context </a:t>
            </a:r>
          </a:p>
          <a:p>
            <a:r>
              <a:rPr lang="en-US" dirty="0"/>
              <a:t>next page whoops </a:t>
            </a:r>
          </a:p>
          <a:p>
            <a:endParaRPr lang="en-US" dirty="0"/>
          </a:p>
        </p:txBody>
      </p:sp>
      <p:sp>
        <p:nvSpPr>
          <p:cNvPr id="4" name="Slide Number Placeholder 3"/>
          <p:cNvSpPr>
            <a:spLocks noGrp="1"/>
          </p:cNvSpPr>
          <p:nvPr>
            <p:ph type="sldNum" sz="quarter" idx="5"/>
          </p:nvPr>
        </p:nvSpPr>
        <p:spPr/>
        <p:txBody>
          <a:bodyPr/>
          <a:lstStyle/>
          <a:p>
            <a:fld id="{14E53314-2A7B-45C3-95DC-AEED89D59FB8}" type="slidenum">
              <a:rPr lang="en-US" smtClean="0"/>
              <a:t>6</a:t>
            </a:fld>
            <a:endParaRPr lang="en-US" dirty="0"/>
          </a:p>
        </p:txBody>
      </p:sp>
    </p:spTree>
    <p:extLst>
      <p:ext uri="{BB962C8B-B14F-4D97-AF65-F5344CB8AC3E}">
        <p14:creationId xmlns:p14="http://schemas.microsoft.com/office/powerpoint/2010/main" val="4285761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organizational context is that who we are and what we do of an organization this includes how we determine the scope of your quality system who is important to that quality system and how it affects those who are customers or regulators it also determines the overall processes and interactions of your quality systems within that we also determine that the understanding of needs and expectations for interested parties interested parties used to be determined by stakeholders stakeholders were those that were directly influenced or had a direct influence on a companies quality system or business management system. </a:t>
            </a:r>
          </a:p>
          <a:p>
            <a:endParaRPr lang="en-US" dirty="0"/>
          </a:p>
        </p:txBody>
      </p:sp>
      <p:sp>
        <p:nvSpPr>
          <p:cNvPr id="4" name="Slide Number Placeholder 3"/>
          <p:cNvSpPr>
            <a:spLocks noGrp="1"/>
          </p:cNvSpPr>
          <p:nvPr>
            <p:ph type="sldNum" sz="quarter" idx="5"/>
          </p:nvPr>
        </p:nvSpPr>
        <p:spPr/>
        <p:txBody>
          <a:bodyPr/>
          <a:lstStyle/>
          <a:p>
            <a:fld id="{14E53314-2A7B-45C3-95DC-AEED89D59FB8}" type="slidenum">
              <a:rPr lang="en-US" smtClean="0"/>
              <a:t>8</a:t>
            </a:fld>
            <a:endParaRPr lang="en-US" dirty="0"/>
          </a:p>
        </p:txBody>
      </p:sp>
    </p:spTree>
    <p:extLst>
      <p:ext uri="{BB962C8B-B14F-4D97-AF65-F5344CB8AC3E}">
        <p14:creationId xmlns:p14="http://schemas.microsoft.com/office/powerpoint/2010/main" val="27059994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4E53314-2A7B-45C3-95DC-AEED89D59FB8}" type="slidenum">
              <a:rPr lang="en-US" smtClean="0"/>
              <a:t>12</a:t>
            </a:fld>
            <a:endParaRPr lang="en-US" dirty="0"/>
          </a:p>
        </p:txBody>
      </p:sp>
    </p:spTree>
    <p:extLst>
      <p:ext uri="{BB962C8B-B14F-4D97-AF65-F5344CB8AC3E}">
        <p14:creationId xmlns:p14="http://schemas.microsoft.com/office/powerpoint/2010/main" val="6546869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E1FB7-2B75-8B9D-73DD-DA72B1EE13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E8A8770-0EFE-1BAB-419A-A2964EE744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AA4859D-0F23-41C0-E709-DA34C67FEC6C}"/>
              </a:ext>
            </a:extLst>
          </p:cNvPr>
          <p:cNvSpPr>
            <a:spLocks noGrp="1"/>
          </p:cNvSpPr>
          <p:nvPr>
            <p:ph type="dt" sz="half" idx="10"/>
          </p:nvPr>
        </p:nvSpPr>
        <p:spPr/>
        <p:txBody>
          <a:bodyPr/>
          <a:lstStyle/>
          <a:p>
            <a:fld id="{E7AF9DB4-0DDC-4A1A-99B5-6B5CF83F5C92}" type="datetimeFigureOut">
              <a:rPr lang="en-US" smtClean="0"/>
              <a:t>10/23/2022</a:t>
            </a:fld>
            <a:endParaRPr lang="en-US" dirty="0"/>
          </a:p>
        </p:txBody>
      </p:sp>
      <p:sp>
        <p:nvSpPr>
          <p:cNvPr id="5" name="Footer Placeholder 4">
            <a:extLst>
              <a:ext uri="{FF2B5EF4-FFF2-40B4-BE49-F238E27FC236}">
                <a16:creationId xmlns:a16="http://schemas.microsoft.com/office/drawing/2014/main" id="{18817DC7-CDC0-02D8-90C9-5C81F12CA5F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1C0ED1-AADD-0A04-F869-15683C5773D3}"/>
              </a:ext>
            </a:extLst>
          </p:cNvPr>
          <p:cNvSpPr>
            <a:spLocks noGrp="1"/>
          </p:cNvSpPr>
          <p:nvPr>
            <p:ph type="sldNum" sz="quarter" idx="12"/>
          </p:nvPr>
        </p:nvSpPr>
        <p:spPr/>
        <p:txBody>
          <a:bodyPr/>
          <a:lstStyle/>
          <a:p>
            <a:fld id="{54254C4D-E12C-4B1C-9A87-CE8A15E426FA}" type="slidenum">
              <a:rPr lang="en-US" smtClean="0"/>
              <a:t>‹#›</a:t>
            </a:fld>
            <a:endParaRPr lang="en-US" dirty="0"/>
          </a:p>
        </p:txBody>
      </p:sp>
    </p:spTree>
    <p:extLst>
      <p:ext uri="{BB962C8B-B14F-4D97-AF65-F5344CB8AC3E}">
        <p14:creationId xmlns:p14="http://schemas.microsoft.com/office/powerpoint/2010/main" val="1198519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44DF6-C58C-5999-16D3-D4B262B765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FE466C-77A0-8D2A-32B7-7CA98D4AE9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1F4CBE-E2C8-9753-0907-2111D10A4229}"/>
              </a:ext>
            </a:extLst>
          </p:cNvPr>
          <p:cNvSpPr>
            <a:spLocks noGrp="1"/>
          </p:cNvSpPr>
          <p:nvPr>
            <p:ph type="dt" sz="half" idx="10"/>
          </p:nvPr>
        </p:nvSpPr>
        <p:spPr/>
        <p:txBody>
          <a:bodyPr/>
          <a:lstStyle/>
          <a:p>
            <a:fld id="{E7AF9DB4-0DDC-4A1A-99B5-6B5CF83F5C92}" type="datetimeFigureOut">
              <a:rPr lang="en-US" smtClean="0"/>
              <a:t>10/23/2022</a:t>
            </a:fld>
            <a:endParaRPr lang="en-US" dirty="0"/>
          </a:p>
        </p:txBody>
      </p:sp>
      <p:sp>
        <p:nvSpPr>
          <p:cNvPr id="5" name="Footer Placeholder 4">
            <a:extLst>
              <a:ext uri="{FF2B5EF4-FFF2-40B4-BE49-F238E27FC236}">
                <a16:creationId xmlns:a16="http://schemas.microsoft.com/office/drawing/2014/main" id="{30C07F8B-77E3-1036-4580-321777CB6B6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404CCC5-3BB7-95D0-B9BA-F02D61A99877}"/>
              </a:ext>
            </a:extLst>
          </p:cNvPr>
          <p:cNvSpPr>
            <a:spLocks noGrp="1"/>
          </p:cNvSpPr>
          <p:nvPr>
            <p:ph type="sldNum" sz="quarter" idx="12"/>
          </p:nvPr>
        </p:nvSpPr>
        <p:spPr/>
        <p:txBody>
          <a:bodyPr/>
          <a:lstStyle/>
          <a:p>
            <a:fld id="{54254C4D-E12C-4B1C-9A87-CE8A15E426FA}" type="slidenum">
              <a:rPr lang="en-US" smtClean="0"/>
              <a:t>‹#›</a:t>
            </a:fld>
            <a:endParaRPr lang="en-US" dirty="0"/>
          </a:p>
        </p:txBody>
      </p:sp>
    </p:spTree>
    <p:extLst>
      <p:ext uri="{BB962C8B-B14F-4D97-AF65-F5344CB8AC3E}">
        <p14:creationId xmlns:p14="http://schemas.microsoft.com/office/powerpoint/2010/main" val="3234991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03D34-A6D5-BC8D-55F6-83F7D45FCCC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4237611-0313-70EE-88F8-77736173F43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9A8075-1042-B380-6DE6-1FE8AF58AFD8}"/>
              </a:ext>
            </a:extLst>
          </p:cNvPr>
          <p:cNvSpPr>
            <a:spLocks noGrp="1"/>
          </p:cNvSpPr>
          <p:nvPr>
            <p:ph type="dt" sz="half" idx="10"/>
          </p:nvPr>
        </p:nvSpPr>
        <p:spPr/>
        <p:txBody>
          <a:bodyPr/>
          <a:lstStyle/>
          <a:p>
            <a:fld id="{E7AF9DB4-0DDC-4A1A-99B5-6B5CF83F5C92}" type="datetimeFigureOut">
              <a:rPr lang="en-US" smtClean="0"/>
              <a:t>10/23/2022</a:t>
            </a:fld>
            <a:endParaRPr lang="en-US" dirty="0"/>
          </a:p>
        </p:txBody>
      </p:sp>
      <p:sp>
        <p:nvSpPr>
          <p:cNvPr id="5" name="Footer Placeholder 4">
            <a:extLst>
              <a:ext uri="{FF2B5EF4-FFF2-40B4-BE49-F238E27FC236}">
                <a16:creationId xmlns:a16="http://schemas.microsoft.com/office/drawing/2014/main" id="{BAA9D437-ED4D-71AC-63E1-197763830FC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07E4545-5413-58F1-46C7-FC7EE1B26BED}"/>
              </a:ext>
            </a:extLst>
          </p:cNvPr>
          <p:cNvSpPr>
            <a:spLocks noGrp="1"/>
          </p:cNvSpPr>
          <p:nvPr>
            <p:ph type="sldNum" sz="quarter" idx="12"/>
          </p:nvPr>
        </p:nvSpPr>
        <p:spPr/>
        <p:txBody>
          <a:bodyPr/>
          <a:lstStyle/>
          <a:p>
            <a:fld id="{54254C4D-E12C-4B1C-9A87-CE8A15E426FA}" type="slidenum">
              <a:rPr lang="en-US" smtClean="0"/>
              <a:t>‹#›</a:t>
            </a:fld>
            <a:endParaRPr lang="en-US" dirty="0"/>
          </a:p>
        </p:txBody>
      </p:sp>
    </p:spTree>
    <p:extLst>
      <p:ext uri="{BB962C8B-B14F-4D97-AF65-F5344CB8AC3E}">
        <p14:creationId xmlns:p14="http://schemas.microsoft.com/office/powerpoint/2010/main" val="854822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2A906D-FC41-F27C-B05F-22D48D56404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073824-E645-CF9A-1D24-369F22CB305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9EA0E1D-2D75-BBFA-6A14-AFC9018AF79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2F30B1-6251-B452-400F-7B084F8E451C}"/>
              </a:ext>
            </a:extLst>
          </p:cNvPr>
          <p:cNvSpPr>
            <a:spLocks noGrp="1"/>
          </p:cNvSpPr>
          <p:nvPr>
            <p:ph type="dt" sz="half" idx="10"/>
          </p:nvPr>
        </p:nvSpPr>
        <p:spPr/>
        <p:txBody>
          <a:bodyPr/>
          <a:lstStyle/>
          <a:p>
            <a:fld id="{E7AF9DB4-0DDC-4A1A-99B5-6B5CF83F5C92}" type="datetimeFigureOut">
              <a:rPr lang="en-US" smtClean="0"/>
              <a:t>10/23/2022</a:t>
            </a:fld>
            <a:endParaRPr lang="en-US" dirty="0"/>
          </a:p>
        </p:txBody>
      </p:sp>
      <p:sp>
        <p:nvSpPr>
          <p:cNvPr id="6" name="Footer Placeholder 5">
            <a:extLst>
              <a:ext uri="{FF2B5EF4-FFF2-40B4-BE49-F238E27FC236}">
                <a16:creationId xmlns:a16="http://schemas.microsoft.com/office/drawing/2014/main" id="{E97FD0B1-96D0-AE49-C976-B0DC7E42796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55F2845-5815-B0BA-1815-26E67A85C045}"/>
              </a:ext>
            </a:extLst>
          </p:cNvPr>
          <p:cNvSpPr>
            <a:spLocks noGrp="1"/>
          </p:cNvSpPr>
          <p:nvPr>
            <p:ph type="sldNum" sz="quarter" idx="12"/>
          </p:nvPr>
        </p:nvSpPr>
        <p:spPr/>
        <p:txBody>
          <a:bodyPr/>
          <a:lstStyle/>
          <a:p>
            <a:fld id="{54254C4D-E12C-4B1C-9A87-CE8A15E426FA}" type="slidenum">
              <a:rPr lang="en-US" smtClean="0"/>
              <a:t>‹#›</a:t>
            </a:fld>
            <a:endParaRPr lang="en-US" dirty="0"/>
          </a:p>
        </p:txBody>
      </p:sp>
    </p:spTree>
    <p:extLst>
      <p:ext uri="{BB962C8B-B14F-4D97-AF65-F5344CB8AC3E}">
        <p14:creationId xmlns:p14="http://schemas.microsoft.com/office/powerpoint/2010/main" val="2006415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89204-44F4-9773-1EBC-16089847517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318C70-A1EA-5485-7ADB-582F957C58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AC2BDF-A6B2-6158-06E1-395BB42E56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5E2307B-B582-E708-4CBA-7923B92934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6AA1A0-DC15-BEE2-3B7E-6D192B34E5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F640361-A021-A1A2-406C-AC5495DE0503}"/>
              </a:ext>
            </a:extLst>
          </p:cNvPr>
          <p:cNvSpPr>
            <a:spLocks noGrp="1"/>
          </p:cNvSpPr>
          <p:nvPr>
            <p:ph type="dt" sz="half" idx="10"/>
          </p:nvPr>
        </p:nvSpPr>
        <p:spPr/>
        <p:txBody>
          <a:bodyPr/>
          <a:lstStyle/>
          <a:p>
            <a:fld id="{E7AF9DB4-0DDC-4A1A-99B5-6B5CF83F5C92}" type="datetimeFigureOut">
              <a:rPr lang="en-US" smtClean="0"/>
              <a:t>10/23/2022</a:t>
            </a:fld>
            <a:endParaRPr lang="en-US" dirty="0"/>
          </a:p>
        </p:txBody>
      </p:sp>
      <p:sp>
        <p:nvSpPr>
          <p:cNvPr id="8" name="Footer Placeholder 7">
            <a:extLst>
              <a:ext uri="{FF2B5EF4-FFF2-40B4-BE49-F238E27FC236}">
                <a16:creationId xmlns:a16="http://schemas.microsoft.com/office/drawing/2014/main" id="{5032AB2F-E805-3783-186C-1027CA131FD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72240425-75D9-6F8C-5B9A-924AAF8D6154}"/>
              </a:ext>
            </a:extLst>
          </p:cNvPr>
          <p:cNvSpPr>
            <a:spLocks noGrp="1"/>
          </p:cNvSpPr>
          <p:nvPr>
            <p:ph type="sldNum" sz="quarter" idx="12"/>
          </p:nvPr>
        </p:nvSpPr>
        <p:spPr/>
        <p:txBody>
          <a:bodyPr/>
          <a:lstStyle/>
          <a:p>
            <a:fld id="{54254C4D-E12C-4B1C-9A87-CE8A15E426FA}" type="slidenum">
              <a:rPr lang="en-US" smtClean="0"/>
              <a:t>‹#›</a:t>
            </a:fld>
            <a:endParaRPr lang="en-US" dirty="0"/>
          </a:p>
        </p:txBody>
      </p:sp>
    </p:spTree>
    <p:extLst>
      <p:ext uri="{BB962C8B-B14F-4D97-AF65-F5344CB8AC3E}">
        <p14:creationId xmlns:p14="http://schemas.microsoft.com/office/powerpoint/2010/main" val="3709431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959F-5E79-C7A1-8DFD-A39DD2EC78D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B19C17-EC4A-540F-8BF8-E258A8186D11}"/>
              </a:ext>
            </a:extLst>
          </p:cNvPr>
          <p:cNvSpPr>
            <a:spLocks noGrp="1"/>
          </p:cNvSpPr>
          <p:nvPr>
            <p:ph type="dt" sz="half" idx="10"/>
          </p:nvPr>
        </p:nvSpPr>
        <p:spPr/>
        <p:txBody>
          <a:bodyPr/>
          <a:lstStyle/>
          <a:p>
            <a:fld id="{E7AF9DB4-0DDC-4A1A-99B5-6B5CF83F5C92}" type="datetimeFigureOut">
              <a:rPr lang="en-US" smtClean="0"/>
              <a:t>10/23/2022</a:t>
            </a:fld>
            <a:endParaRPr lang="en-US" dirty="0"/>
          </a:p>
        </p:txBody>
      </p:sp>
      <p:sp>
        <p:nvSpPr>
          <p:cNvPr id="4" name="Footer Placeholder 3">
            <a:extLst>
              <a:ext uri="{FF2B5EF4-FFF2-40B4-BE49-F238E27FC236}">
                <a16:creationId xmlns:a16="http://schemas.microsoft.com/office/drawing/2014/main" id="{8432D760-9C9D-4EDE-12BF-EC7649B4029C}"/>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FA8AF5A-BD7D-0DAE-FD1C-1D621FE4899B}"/>
              </a:ext>
            </a:extLst>
          </p:cNvPr>
          <p:cNvSpPr>
            <a:spLocks noGrp="1"/>
          </p:cNvSpPr>
          <p:nvPr>
            <p:ph type="sldNum" sz="quarter" idx="12"/>
          </p:nvPr>
        </p:nvSpPr>
        <p:spPr/>
        <p:txBody>
          <a:bodyPr/>
          <a:lstStyle/>
          <a:p>
            <a:fld id="{54254C4D-E12C-4B1C-9A87-CE8A15E426FA}" type="slidenum">
              <a:rPr lang="en-US" smtClean="0"/>
              <a:t>‹#›</a:t>
            </a:fld>
            <a:endParaRPr lang="en-US" dirty="0"/>
          </a:p>
        </p:txBody>
      </p:sp>
    </p:spTree>
    <p:extLst>
      <p:ext uri="{BB962C8B-B14F-4D97-AF65-F5344CB8AC3E}">
        <p14:creationId xmlns:p14="http://schemas.microsoft.com/office/powerpoint/2010/main" val="3685934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A72DB2-E3AF-E4BD-328D-FD9C4CBD2374}"/>
              </a:ext>
            </a:extLst>
          </p:cNvPr>
          <p:cNvSpPr>
            <a:spLocks noGrp="1"/>
          </p:cNvSpPr>
          <p:nvPr>
            <p:ph type="dt" sz="half" idx="10"/>
          </p:nvPr>
        </p:nvSpPr>
        <p:spPr/>
        <p:txBody>
          <a:bodyPr/>
          <a:lstStyle/>
          <a:p>
            <a:fld id="{E7AF9DB4-0DDC-4A1A-99B5-6B5CF83F5C92}" type="datetimeFigureOut">
              <a:rPr lang="en-US" smtClean="0"/>
              <a:t>10/23/2022</a:t>
            </a:fld>
            <a:endParaRPr lang="en-US" dirty="0"/>
          </a:p>
        </p:txBody>
      </p:sp>
      <p:sp>
        <p:nvSpPr>
          <p:cNvPr id="3" name="Footer Placeholder 2">
            <a:extLst>
              <a:ext uri="{FF2B5EF4-FFF2-40B4-BE49-F238E27FC236}">
                <a16:creationId xmlns:a16="http://schemas.microsoft.com/office/drawing/2014/main" id="{3E6DB0BE-2F38-7CD4-DE64-C0EB6367C2F1}"/>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DA5FD5E-09F9-D0B9-A9B6-D88DC07326E9}"/>
              </a:ext>
            </a:extLst>
          </p:cNvPr>
          <p:cNvSpPr>
            <a:spLocks noGrp="1"/>
          </p:cNvSpPr>
          <p:nvPr>
            <p:ph type="sldNum" sz="quarter" idx="12"/>
          </p:nvPr>
        </p:nvSpPr>
        <p:spPr/>
        <p:txBody>
          <a:bodyPr/>
          <a:lstStyle/>
          <a:p>
            <a:fld id="{54254C4D-E12C-4B1C-9A87-CE8A15E426FA}" type="slidenum">
              <a:rPr lang="en-US" smtClean="0"/>
              <a:t>‹#›</a:t>
            </a:fld>
            <a:endParaRPr lang="en-US" dirty="0"/>
          </a:p>
        </p:txBody>
      </p:sp>
    </p:spTree>
    <p:extLst>
      <p:ext uri="{BB962C8B-B14F-4D97-AF65-F5344CB8AC3E}">
        <p14:creationId xmlns:p14="http://schemas.microsoft.com/office/powerpoint/2010/main" val="579153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D7776-16C2-3120-A1B7-6007DAD4B2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33CE7E-1F38-0825-EF1A-97D518C426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3D3EC3D-E346-A956-3066-30C0C9777F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A17304-E3E7-50D0-9357-CEC2116781A6}"/>
              </a:ext>
            </a:extLst>
          </p:cNvPr>
          <p:cNvSpPr>
            <a:spLocks noGrp="1"/>
          </p:cNvSpPr>
          <p:nvPr>
            <p:ph type="dt" sz="half" idx="10"/>
          </p:nvPr>
        </p:nvSpPr>
        <p:spPr/>
        <p:txBody>
          <a:bodyPr/>
          <a:lstStyle/>
          <a:p>
            <a:fld id="{E7AF9DB4-0DDC-4A1A-99B5-6B5CF83F5C92}" type="datetimeFigureOut">
              <a:rPr lang="en-US" smtClean="0"/>
              <a:t>10/23/2022</a:t>
            </a:fld>
            <a:endParaRPr lang="en-US" dirty="0"/>
          </a:p>
        </p:txBody>
      </p:sp>
      <p:sp>
        <p:nvSpPr>
          <p:cNvPr id="6" name="Footer Placeholder 5">
            <a:extLst>
              <a:ext uri="{FF2B5EF4-FFF2-40B4-BE49-F238E27FC236}">
                <a16:creationId xmlns:a16="http://schemas.microsoft.com/office/drawing/2014/main" id="{717225EC-51AD-E20B-B455-3AA146E1747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3F3E351-7787-A7A9-931E-8A90C578371C}"/>
              </a:ext>
            </a:extLst>
          </p:cNvPr>
          <p:cNvSpPr>
            <a:spLocks noGrp="1"/>
          </p:cNvSpPr>
          <p:nvPr>
            <p:ph type="sldNum" sz="quarter" idx="12"/>
          </p:nvPr>
        </p:nvSpPr>
        <p:spPr/>
        <p:txBody>
          <a:bodyPr/>
          <a:lstStyle/>
          <a:p>
            <a:fld id="{54254C4D-E12C-4B1C-9A87-CE8A15E426FA}" type="slidenum">
              <a:rPr lang="en-US" smtClean="0"/>
              <a:t>‹#›</a:t>
            </a:fld>
            <a:endParaRPr lang="en-US" dirty="0"/>
          </a:p>
        </p:txBody>
      </p:sp>
    </p:spTree>
    <p:extLst>
      <p:ext uri="{BB962C8B-B14F-4D97-AF65-F5344CB8AC3E}">
        <p14:creationId xmlns:p14="http://schemas.microsoft.com/office/powerpoint/2010/main" val="2007846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32B03-50C3-0A19-B2D7-86D52F8745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AE02CF9-2607-40EE-8E13-B5800D464D7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51CE5A1A-433B-BAB6-524B-528AD0BA40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B8E54C-8D23-87C1-7039-9349B8DF3525}"/>
              </a:ext>
            </a:extLst>
          </p:cNvPr>
          <p:cNvSpPr>
            <a:spLocks noGrp="1"/>
          </p:cNvSpPr>
          <p:nvPr>
            <p:ph type="dt" sz="half" idx="10"/>
          </p:nvPr>
        </p:nvSpPr>
        <p:spPr/>
        <p:txBody>
          <a:bodyPr/>
          <a:lstStyle/>
          <a:p>
            <a:fld id="{E7AF9DB4-0DDC-4A1A-99B5-6B5CF83F5C92}" type="datetimeFigureOut">
              <a:rPr lang="en-US" smtClean="0"/>
              <a:t>10/23/2022</a:t>
            </a:fld>
            <a:endParaRPr lang="en-US" dirty="0"/>
          </a:p>
        </p:txBody>
      </p:sp>
      <p:sp>
        <p:nvSpPr>
          <p:cNvPr id="6" name="Footer Placeholder 5">
            <a:extLst>
              <a:ext uri="{FF2B5EF4-FFF2-40B4-BE49-F238E27FC236}">
                <a16:creationId xmlns:a16="http://schemas.microsoft.com/office/drawing/2014/main" id="{70C5AD1A-4B29-99D7-CD95-3CE3E8B630B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8783543-3336-0A6A-6EEA-6ED6652555BF}"/>
              </a:ext>
            </a:extLst>
          </p:cNvPr>
          <p:cNvSpPr>
            <a:spLocks noGrp="1"/>
          </p:cNvSpPr>
          <p:nvPr>
            <p:ph type="sldNum" sz="quarter" idx="12"/>
          </p:nvPr>
        </p:nvSpPr>
        <p:spPr/>
        <p:txBody>
          <a:bodyPr/>
          <a:lstStyle/>
          <a:p>
            <a:fld id="{54254C4D-E12C-4B1C-9A87-CE8A15E426FA}" type="slidenum">
              <a:rPr lang="en-US" smtClean="0"/>
              <a:t>‹#›</a:t>
            </a:fld>
            <a:endParaRPr lang="en-US" dirty="0"/>
          </a:p>
        </p:txBody>
      </p:sp>
    </p:spTree>
    <p:extLst>
      <p:ext uri="{BB962C8B-B14F-4D97-AF65-F5344CB8AC3E}">
        <p14:creationId xmlns:p14="http://schemas.microsoft.com/office/powerpoint/2010/main" val="8051386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DCC0B-F290-F89E-DFD4-0C841005136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691F492-AF67-8D5D-5D2C-2D9F8D0204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44B95E-0DCE-3E97-2AB5-D2B6C5E58A20}"/>
              </a:ext>
            </a:extLst>
          </p:cNvPr>
          <p:cNvSpPr>
            <a:spLocks noGrp="1"/>
          </p:cNvSpPr>
          <p:nvPr>
            <p:ph type="dt" sz="half" idx="10"/>
          </p:nvPr>
        </p:nvSpPr>
        <p:spPr/>
        <p:txBody>
          <a:bodyPr/>
          <a:lstStyle/>
          <a:p>
            <a:fld id="{E7AF9DB4-0DDC-4A1A-99B5-6B5CF83F5C92}" type="datetimeFigureOut">
              <a:rPr lang="en-US" smtClean="0"/>
              <a:t>10/23/2022</a:t>
            </a:fld>
            <a:endParaRPr lang="en-US" dirty="0"/>
          </a:p>
        </p:txBody>
      </p:sp>
      <p:sp>
        <p:nvSpPr>
          <p:cNvPr id="5" name="Footer Placeholder 4">
            <a:extLst>
              <a:ext uri="{FF2B5EF4-FFF2-40B4-BE49-F238E27FC236}">
                <a16:creationId xmlns:a16="http://schemas.microsoft.com/office/drawing/2014/main" id="{44B9D71C-50D5-10BB-3701-9D336516539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96EB660-8C1A-E514-1FB6-A2F3C05726E8}"/>
              </a:ext>
            </a:extLst>
          </p:cNvPr>
          <p:cNvSpPr>
            <a:spLocks noGrp="1"/>
          </p:cNvSpPr>
          <p:nvPr>
            <p:ph type="sldNum" sz="quarter" idx="12"/>
          </p:nvPr>
        </p:nvSpPr>
        <p:spPr/>
        <p:txBody>
          <a:bodyPr/>
          <a:lstStyle/>
          <a:p>
            <a:fld id="{54254C4D-E12C-4B1C-9A87-CE8A15E426FA}" type="slidenum">
              <a:rPr lang="en-US" smtClean="0"/>
              <a:t>‹#›</a:t>
            </a:fld>
            <a:endParaRPr lang="en-US" dirty="0"/>
          </a:p>
        </p:txBody>
      </p:sp>
    </p:spTree>
    <p:extLst>
      <p:ext uri="{BB962C8B-B14F-4D97-AF65-F5344CB8AC3E}">
        <p14:creationId xmlns:p14="http://schemas.microsoft.com/office/powerpoint/2010/main" val="2015448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F65DB6-6FB3-C6A2-0B4C-3183A53E562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FCDDE83-DC5D-1DED-F1D6-B93A873295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6B4635-CA44-5788-B832-23ADE195181D}"/>
              </a:ext>
            </a:extLst>
          </p:cNvPr>
          <p:cNvSpPr>
            <a:spLocks noGrp="1"/>
          </p:cNvSpPr>
          <p:nvPr>
            <p:ph type="dt" sz="half" idx="10"/>
          </p:nvPr>
        </p:nvSpPr>
        <p:spPr/>
        <p:txBody>
          <a:bodyPr/>
          <a:lstStyle/>
          <a:p>
            <a:fld id="{E7AF9DB4-0DDC-4A1A-99B5-6B5CF83F5C92}" type="datetimeFigureOut">
              <a:rPr lang="en-US" smtClean="0"/>
              <a:t>10/23/2022</a:t>
            </a:fld>
            <a:endParaRPr lang="en-US" dirty="0"/>
          </a:p>
        </p:txBody>
      </p:sp>
      <p:sp>
        <p:nvSpPr>
          <p:cNvPr id="5" name="Footer Placeholder 4">
            <a:extLst>
              <a:ext uri="{FF2B5EF4-FFF2-40B4-BE49-F238E27FC236}">
                <a16:creationId xmlns:a16="http://schemas.microsoft.com/office/drawing/2014/main" id="{884E816A-54D0-4305-67CD-F005EF48217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3EE4827-737D-8A69-41AE-F69936E4A638}"/>
              </a:ext>
            </a:extLst>
          </p:cNvPr>
          <p:cNvSpPr>
            <a:spLocks noGrp="1"/>
          </p:cNvSpPr>
          <p:nvPr>
            <p:ph type="sldNum" sz="quarter" idx="12"/>
          </p:nvPr>
        </p:nvSpPr>
        <p:spPr/>
        <p:txBody>
          <a:bodyPr/>
          <a:lstStyle/>
          <a:p>
            <a:fld id="{54254C4D-E12C-4B1C-9A87-CE8A15E426FA}" type="slidenum">
              <a:rPr lang="en-US" smtClean="0"/>
              <a:t>‹#›</a:t>
            </a:fld>
            <a:endParaRPr lang="en-US" dirty="0"/>
          </a:p>
        </p:txBody>
      </p:sp>
    </p:spTree>
    <p:extLst>
      <p:ext uri="{BB962C8B-B14F-4D97-AF65-F5344CB8AC3E}">
        <p14:creationId xmlns:p14="http://schemas.microsoft.com/office/powerpoint/2010/main" val="879343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B0E221-11DB-5DCC-CE06-924123FE4D2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8F9E590-4A90-D338-633D-655BB7745F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D9B157-D8CA-9E87-B727-A8624104EB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AF9DB4-0DDC-4A1A-99B5-6B5CF83F5C92}" type="datetimeFigureOut">
              <a:rPr lang="en-US" smtClean="0"/>
              <a:t>10/23/2022</a:t>
            </a:fld>
            <a:endParaRPr lang="en-US" dirty="0"/>
          </a:p>
        </p:txBody>
      </p:sp>
      <p:sp>
        <p:nvSpPr>
          <p:cNvPr id="5" name="Footer Placeholder 4">
            <a:extLst>
              <a:ext uri="{FF2B5EF4-FFF2-40B4-BE49-F238E27FC236}">
                <a16:creationId xmlns:a16="http://schemas.microsoft.com/office/drawing/2014/main" id="{AC639291-112A-A27A-A1C2-43173E7EDF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C41EEB55-CB85-8AD9-9004-2380D535875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254C4D-E12C-4B1C-9A87-CE8A15E426FA}" type="slidenum">
              <a:rPr lang="en-US" smtClean="0"/>
              <a:t>‹#›</a:t>
            </a:fld>
            <a:endParaRPr lang="en-US" dirty="0"/>
          </a:p>
        </p:txBody>
      </p:sp>
    </p:spTree>
    <p:extLst>
      <p:ext uri="{BB962C8B-B14F-4D97-AF65-F5344CB8AC3E}">
        <p14:creationId xmlns:p14="http://schemas.microsoft.com/office/powerpoint/2010/main" val="8328663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NEW%20QMS/4%20Context%20of%20the%20Organization/Procedures/P-400-01%20A%20-%20Organizational%20Context.docx"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0D1D739-EDC4-4BE6-A073-9B157E1F90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reeform: Shape 10">
            <a:extLst>
              <a:ext uri="{FF2B5EF4-FFF2-40B4-BE49-F238E27FC236}">
                <a16:creationId xmlns:a16="http://schemas.microsoft.com/office/drawing/2014/main" id="{6CDD35A4-E546-4AF3-A8B9-AC24C5C9FA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custGeom>
            <a:avLst/>
            <a:gdLst>
              <a:gd name="connsiteX0" fmla="*/ 0 w 12192000"/>
              <a:gd name="connsiteY0" fmla="*/ 0 h 6858000"/>
              <a:gd name="connsiteX1" fmla="*/ 3852070 w 12192000"/>
              <a:gd name="connsiteY1" fmla="*/ 0 h 6858000"/>
              <a:gd name="connsiteX2" fmla="*/ 3878367 w 12192000"/>
              <a:gd name="connsiteY2" fmla="*/ 23504 h 6858000"/>
              <a:gd name="connsiteX3" fmla="*/ 3885324 w 12192000"/>
              <a:gd name="connsiteY3" fmla="*/ 84795 h 6858000"/>
              <a:gd name="connsiteX4" fmla="*/ 3820400 w 12192000"/>
              <a:gd name="connsiteY4" fmla="*/ 131127 h 6858000"/>
              <a:gd name="connsiteX5" fmla="*/ 3631811 w 12192000"/>
              <a:gd name="connsiteY5" fmla="*/ 219929 h 6858000"/>
              <a:gd name="connsiteX6" fmla="*/ 4327428 w 12192000"/>
              <a:gd name="connsiteY6" fmla="*/ 351201 h 6858000"/>
              <a:gd name="connsiteX7" fmla="*/ 4080099 w 12192000"/>
              <a:gd name="connsiteY7" fmla="*/ 432279 h 6858000"/>
              <a:gd name="connsiteX8" fmla="*/ 3823492 w 12192000"/>
              <a:gd name="connsiteY8" fmla="*/ 490194 h 6858000"/>
              <a:gd name="connsiteX9" fmla="*/ 3545246 w 12192000"/>
              <a:gd name="connsiteY9" fmla="*/ 532664 h 6858000"/>
              <a:gd name="connsiteX10" fmla="*/ 3291732 w 12192000"/>
              <a:gd name="connsiteY10" fmla="*/ 617605 h 6858000"/>
              <a:gd name="connsiteX11" fmla="*/ 3953340 w 12192000"/>
              <a:gd name="connsiteY11" fmla="*/ 652353 h 6858000"/>
              <a:gd name="connsiteX12" fmla="*/ 3610170 w 12192000"/>
              <a:gd name="connsiteY12" fmla="*/ 729572 h 6858000"/>
              <a:gd name="connsiteX13" fmla="*/ 3328832 w 12192000"/>
              <a:gd name="connsiteY13" fmla="*/ 829957 h 6858000"/>
              <a:gd name="connsiteX14" fmla="*/ 3130966 w 12192000"/>
              <a:gd name="connsiteY14" fmla="*/ 876288 h 6858000"/>
              <a:gd name="connsiteX15" fmla="*/ 2920736 w 12192000"/>
              <a:gd name="connsiteY15" fmla="*/ 887872 h 6858000"/>
              <a:gd name="connsiteX16" fmla="*/ 2871269 w 12192000"/>
              <a:gd name="connsiteY16" fmla="*/ 961228 h 6858000"/>
              <a:gd name="connsiteX17" fmla="*/ 2936195 w 12192000"/>
              <a:gd name="connsiteY17" fmla="*/ 1038448 h 6858000"/>
              <a:gd name="connsiteX18" fmla="*/ 3035126 w 12192000"/>
              <a:gd name="connsiteY18" fmla="*/ 1046168 h 6858000"/>
              <a:gd name="connsiteX19" fmla="*/ 3625627 w 12192000"/>
              <a:gd name="connsiteY19" fmla="*/ 1065474 h 6858000"/>
              <a:gd name="connsiteX20" fmla="*/ 1733551 w 12192000"/>
              <a:gd name="connsiteY20" fmla="*/ 1235355 h 6858000"/>
              <a:gd name="connsiteX21" fmla="*/ 1990156 w 12192000"/>
              <a:gd name="connsiteY21" fmla="*/ 1339602 h 6858000"/>
              <a:gd name="connsiteX22" fmla="*/ 2076722 w 12192000"/>
              <a:gd name="connsiteY22" fmla="*/ 1625311 h 6858000"/>
              <a:gd name="connsiteX23" fmla="*/ 2392067 w 12192000"/>
              <a:gd name="connsiteY23" fmla="*/ 1787470 h 6858000"/>
              <a:gd name="connsiteX24" fmla="*/ 2596115 w 12192000"/>
              <a:gd name="connsiteY24" fmla="*/ 1845385 h 6858000"/>
              <a:gd name="connsiteX25" fmla="*/ 3062950 w 12192000"/>
              <a:gd name="connsiteY25" fmla="*/ 1930326 h 6858000"/>
              <a:gd name="connsiteX26" fmla="*/ 3130966 w 12192000"/>
              <a:gd name="connsiteY26" fmla="*/ 2069319 h 6858000"/>
              <a:gd name="connsiteX27" fmla="*/ 3189708 w 12192000"/>
              <a:gd name="connsiteY27" fmla="*/ 2223754 h 6858000"/>
              <a:gd name="connsiteX28" fmla="*/ 3313373 w 12192000"/>
              <a:gd name="connsiteY28" fmla="*/ 2324141 h 6858000"/>
              <a:gd name="connsiteX29" fmla="*/ 2351877 w 12192000"/>
              <a:gd name="connsiteY29" fmla="*/ 2308697 h 6858000"/>
              <a:gd name="connsiteX30" fmla="*/ 3437038 w 12192000"/>
              <a:gd name="connsiteY30" fmla="*/ 2633017 h 6858000"/>
              <a:gd name="connsiteX31" fmla="*/ 3341198 w 12192000"/>
              <a:gd name="connsiteY31" fmla="*/ 2760427 h 6858000"/>
              <a:gd name="connsiteX32" fmla="*/ 3934791 w 12192000"/>
              <a:gd name="connsiteY32" fmla="*/ 2934169 h 6858000"/>
              <a:gd name="connsiteX33" fmla="*/ 3616352 w 12192000"/>
              <a:gd name="connsiteY33" fmla="*/ 2953473 h 6858000"/>
              <a:gd name="connsiteX34" fmla="*/ 5468240 w 12192000"/>
              <a:gd name="connsiteY34" fmla="*/ 3679329 h 6858000"/>
              <a:gd name="connsiteX35" fmla="*/ 8111582 w 12192000"/>
              <a:gd name="connsiteY35" fmla="*/ 4204418 h 6858000"/>
              <a:gd name="connsiteX36" fmla="*/ 9144186 w 12192000"/>
              <a:gd name="connsiteY36" fmla="*/ 4304802 h 6858000"/>
              <a:gd name="connsiteX37" fmla="*/ 10319004 w 12192000"/>
              <a:gd name="connsiteY37" fmla="*/ 4273915 h 6858000"/>
              <a:gd name="connsiteX38" fmla="*/ 12053408 w 12192000"/>
              <a:gd name="connsiteY38" fmla="*/ 3907125 h 6858000"/>
              <a:gd name="connsiteX39" fmla="*/ 12192000 w 12192000"/>
              <a:gd name="connsiteY39" fmla="*/ 3841157 h 6858000"/>
              <a:gd name="connsiteX40" fmla="*/ 12192000 w 12192000"/>
              <a:gd name="connsiteY40" fmla="*/ 6858000 h 6858000"/>
              <a:gd name="connsiteX41" fmla="*/ 0 w 12192000"/>
              <a:gd name="connsiteY4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12192000" h="6858000">
                <a:moveTo>
                  <a:pt x="0" y="0"/>
                </a:moveTo>
                <a:lnTo>
                  <a:pt x="3852070" y="0"/>
                </a:lnTo>
                <a:lnTo>
                  <a:pt x="3878367" y="23504"/>
                </a:lnTo>
                <a:cubicBezTo>
                  <a:pt x="3887642" y="39430"/>
                  <a:pt x="3891507" y="59700"/>
                  <a:pt x="3885324" y="84795"/>
                </a:cubicBezTo>
                <a:cubicBezTo>
                  <a:pt x="3876049" y="123406"/>
                  <a:pt x="3845133" y="123406"/>
                  <a:pt x="3820400" y="131127"/>
                </a:cubicBezTo>
                <a:cubicBezTo>
                  <a:pt x="3764751" y="154292"/>
                  <a:pt x="3696735" y="138849"/>
                  <a:pt x="3631811" y="219929"/>
                </a:cubicBezTo>
                <a:cubicBezTo>
                  <a:pt x="3879141" y="262399"/>
                  <a:pt x="4117198" y="181318"/>
                  <a:pt x="4327428" y="351201"/>
                </a:cubicBezTo>
                <a:cubicBezTo>
                  <a:pt x="4250138" y="436142"/>
                  <a:pt x="4163572" y="416836"/>
                  <a:pt x="4080099" y="432279"/>
                </a:cubicBezTo>
                <a:cubicBezTo>
                  <a:pt x="3993533" y="447725"/>
                  <a:pt x="3910058" y="474751"/>
                  <a:pt x="3823492" y="490194"/>
                </a:cubicBezTo>
                <a:cubicBezTo>
                  <a:pt x="3730743" y="509498"/>
                  <a:pt x="3637993" y="513360"/>
                  <a:pt x="3545246" y="532664"/>
                </a:cubicBezTo>
                <a:cubicBezTo>
                  <a:pt x="3467954" y="548109"/>
                  <a:pt x="3384480" y="521081"/>
                  <a:pt x="3291732" y="617605"/>
                </a:cubicBezTo>
                <a:cubicBezTo>
                  <a:pt x="3520513" y="687103"/>
                  <a:pt x="3727651" y="582857"/>
                  <a:pt x="3953340" y="652353"/>
                </a:cubicBezTo>
                <a:cubicBezTo>
                  <a:pt x="3820400" y="714129"/>
                  <a:pt x="3712194" y="694824"/>
                  <a:pt x="3610170" y="729572"/>
                </a:cubicBezTo>
                <a:cubicBezTo>
                  <a:pt x="3517420" y="764322"/>
                  <a:pt x="3406122" y="725712"/>
                  <a:pt x="3328832" y="829957"/>
                </a:cubicBezTo>
                <a:cubicBezTo>
                  <a:pt x="3270090" y="911035"/>
                  <a:pt x="3208258" y="922618"/>
                  <a:pt x="3130966" y="876288"/>
                </a:cubicBezTo>
                <a:cubicBezTo>
                  <a:pt x="3062950" y="833818"/>
                  <a:pt x="2988752" y="845400"/>
                  <a:pt x="2920736" y="887872"/>
                </a:cubicBezTo>
                <a:cubicBezTo>
                  <a:pt x="2896004" y="903315"/>
                  <a:pt x="2871269" y="922618"/>
                  <a:pt x="2871269" y="961228"/>
                </a:cubicBezTo>
                <a:cubicBezTo>
                  <a:pt x="2871269" y="1015283"/>
                  <a:pt x="2902186" y="1030726"/>
                  <a:pt x="2936195" y="1038448"/>
                </a:cubicBezTo>
                <a:cubicBezTo>
                  <a:pt x="2967111" y="1046168"/>
                  <a:pt x="3004210" y="1053891"/>
                  <a:pt x="3035126" y="1046168"/>
                </a:cubicBezTo>
                <a:cubicBezTo>
                  <a:pt x="3232990" y="1003700"/>
                  <a:pt x="3427764" y="1073194"/>
                  <a:pt x="3625627" y="1065474"/>
                </a:cubicBezTo>
                <a:cubicBezTo>
                  <a:pt x="3004210" y="1231494"/>
                  <a:pt x="2376610" y="1177441"/>
                  <a:pt x="1733551" y="1235355"/>
                </a:cubicBezTo>
                <a:cubicBezTo>
                  <a:pt x="1817025" y="1351183"/>
                  <a:pt x="1925232" y="1254661"/>
                  <a:pt x="1990156" y="1339602"/>
                </a:cubicBezTo>
                <a:cubicBezTo>
                  <a:pt x="1928323" y="1517205"/>
                  <a:pt x="1953057" y="1613728"/>
                  <a:pt x="2076722" y="1625311"/>
                </a:cubicBezTo>
                <a:cubicBezTo>
                  <a:pt x="2197295" y="1636894"/>
                  <a:pt x="2327143" y="1575118"/>
                  <a:pt x="2392067" y="1787470"/>
                </a:cubicBezTo>
                <a:cubicBezTo>
                  <a:pt x="2410617" y="1853106"/>
                  <a:pt x="2525008" y="1833802"/>
                  <a:pt x="2596115" y="1845385"/>
                </a:cubicBezTo>
                <a:cubicBezTo>
                  <a:pt x="2750696" y="1872411"/>
                  <a:pt x="2914554" y="1845385"/>
                  <a:pt x="3062950" y="1930326"/>
                </a:cubicBezTo>
                <a:cubicBezTo>
                  <a:pt x="3121692" y="1961213"/>
                  <a:pt x="3161883" y="1984378"/>
                  <a:pt x="3130966" y="2069319"/>
                </a:cubicBezTo>
                <a:cubicBezTo>
                  <a:pt x="3100050" y="2158121"/>
                  <a:pt x="3140242" y="2189008"/>
                  <a:pt x="3189708" y="2223754"/>
                </a:cubicBezTo>
                <a:cubicBezTo>
                  <a:pt x="3226808" y="2250784"/>
                  <a:pt x="3282457" y="2243060"/>
                  <a:pt x="3313373" y="2324141"/>
                </a:cubicBezTo>
                <a:cubicBezTo>
                  <a:pt x="2988752" y="2312558"/>
                  <a:pt x="2673405" y="2246923"/>
                  <a:pt x="2351877" y="2308697"/>
                </a:cubicBezTo>
                <a:cubicBezTo>
                  <a:pt x="2704323" y="2463134"/>
                  <a:pt x="3090776" y="2455412"/>
                  <a:pt x="3437038" y="2633017"/>
                </a:cubicBezTo>
                <a:cubicBezTo>
                  <a:pt x="3424671" y="2694791"/>
                  <a:pt x="3344289" y="2667764"/>
                  <a:pt x="3341198" y="2760427"/>
                </a:cubicBezTo>
                <a:cubicBezTo>
                  <a:pt x="3523603" y="2856951"/>
                  <a:pt x="3743110" y="2791314"/>
                  <a:pt x="3934791" y="2934169"/>
                </a:cubicBezTo>
                <a:cubicBezTo>
                  <a:pt x="3823492" y="2999805"/>
                  <a:pt x="3721469" y="2891699"/>
                  <a:pt x="3616352" y="2953473"/>
                </a:cubicBezTo>
                <a:cubicBezTo>
                  <a:pt x="3650361" y="3046136"/>
                  <a:pt x="5189993" y="3617555"/>
                  <a:pt x="5468240" y="3679329"/>
                </a:cubicBezTo>
                <a:cubicBezTo>
                  <a:pt x="6034007" y="3806740"/>
                  <a:pt x="7663296" y="4131059"/>
                  <a:pt x="8111582" y="4204418"/>
                </a:cubicBezTo>
                <a:cubicBezTo>
                  <a:pt x="8457844" y="4258470"/>
                  <a:pt x="8801016" y="4300942"/>
                  <a:pt x="9144186" y="4304802"/>
                </a:cubicBezTo>
                <a:cubicBezTo>
                  <a:pt x="9536822" y="4308663"/>
                  <a:pt x="9926368" y="4289359"/>
                  <a:pt x="10319004" y="4273915"/>
                </a:cubicBezTo>
                <a:cubicBezTo>
                  <a:pt x="10906415" y="4250750"/>
                  <a:pt x="11484549" y="4158087"/>
                  <a:pt x="12053408" y="3907125"/>
                </a:cubicBezTo>
                <a:lnTo>
                  <a:pt x="12192000" y="3841157"/>
                </a:lnTo>
                <a:lnTo>
                  <a:pt x="12192000" y="6858000"/>
                </a:lnTo>
                <a:lnTo>
                  <a:pt x="0" y="6858000"/>
                </a:lnTo>
                <a:close/>
              </a:path>
            </a:pathLst>
          </a:custGeom>
          <a:solidFill>
            <a:schemeClr val="bg2">
              <a:alpha val="50000"/>
            </a:schemeClr>
          </a:solidFill>
          <a:ln w="32707" cap="flat">
            <a:noFill/>
            <a:prstDash val="solid"/>
            <a:miter/>
          </a:ln>
        </p:spPr>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381E90F6-6B7F-118E-DE10-5FFFF8597F00}"/>
              </a:ext>
            </a:extLst>
          </p:cNvPr>
          <p:cNvSpPr>
            <a:spLocks noGrp="1"/>
          </p:cNvSpPr>
          <p:nvPr>
            <p:ph type="ctrTitle"/>
          </p:nvPr>
        </p:nvSpPr>
        <p:spPr>
          <a:xfrm>
            <a:off x="393699" y="2551812"/>
            <a:ext cx="7268147" cy="1754376"/>
          </a:xfrm>
        </p:spPr>
        <p:txBody>
          <a:bodyPr>
            <a:normAutofit/>
          </a:bodyPr>
          <a:lstStyle/>
          <a:p>
            <a:pPr algn="l"/>
            <a:r>
              <a:rPr lang="en-US" sz="4400" dirty="0"/>
              <a:t>Organizational Context </a:t>
            </a:r>
          </a:p>
        </p:txBody>
      </p:sp>
      <p:sp>
        <p:nvSpPr>
          <p:cNvPr id="3" name="Subtitle 2">
            <a:extLst>
              <a:ext uri="{FF2B5EF4-FFF2-40B4-BE49-F238E27FC236}">
                <a16:creationId xmlns:a16="http://schemas.microsoft.com/office/drawing/2014/main" id="{A8D488F6-52B6-2B5C-7B08-F758A19428A4}"/>
              </a:ext>
            </a:extLst>
          </p:cNvPr>
          <p:cNvSpPr>
            <a:spLocks noGrp="1"/>
          </p:cNvSpPr>
          <p:nvPr>
            <p:ph type="subTitle" idx="1"/>
          </p:nvPr>
        </p:nvSpPr>
        <p:spPr>
          <a:xfrm>
            <a:off x="393699" y="4306188"/>
            <a:ext cx="7759700" cy="1854184"/>
          </a:xfrm>
        </p:spPr>
        <p:txBody>
          <a:bodyPr>
            <a:normAutofit/>
          </a:bodyPr>
          <a:lstStyle/>
          <a:p>
            <a:pPr algn="l"/>
            <a:r>
              <a:rPr lang="en-US" sz="2000" dirty="0"/>
              <a:t>ISO 9001: </a:t>
            </a:r>
            <a:r>
              <a:rPr lang="en-US" sz="2000" dirty="0">
                <a:effectLst/>
                <a:ea typeface="Arial" panose="020B0604020202020204" pitchFamily="34" charset="0"/>
              </a:rPr>
              <a:t>CONTEXT OF THE ORGANIZATION</a:t>
            </a:r>
            <a:endParaRPr lang="en-US" sz="2000" dirty="0"/>
          </a:p>
          <a:p>
            <a:pPr algn="l"/>
            <a:r>
              <a:rPr lang="en-US" sz="2000" dirty="0"/>
              <a:t>ISO 13485: </a:t>
            </a:r>
            <a:r>
              <a:rPr lang="en-US" sz="2000" dirty="0">
                <a:effectLst/>
                <a:ea typeface="Cambria" panose="02040503050406030204" pitchFamily="18" charset="0"/>
                <a:cs typeface="Cambria" panose="02040503050406030204" pitchFamily="18" charset="0"/>
              </a:rPr>
              <a:t>Quality management system</a:t>
            </a:r>
            <a:endParaRPr lang="en-US" sz="2000" dirty="0"/>
          </a:p>
          <a:p>
            <a:pPr algn="l"/>
            <a:r>
              <a:rPr lang="en-US" sz="2000" dirty="0"/>
              <a:t>PART 4 </a:t>
            </a:r>
          </a:p>
        </p:txBody>
      </p:sp>
      <p:pic>
        <p:nvPicPr>
          <p:cNvPr id="4" name="Picture 3" descr="A red and white sign&#10;&#10;Description automatically generated with low confidence">
            <a:extLst>
              <a:ext uri="{FF2B5EF4-FFF2-40B4-BE49-F238E27FC236}">
                <a16:creationId xmlns:a16="http://schemas.microsoft.com/office/drawing/2014/main" id="{BDE15CEE-1250-A1DD-CE6A-4F77F9205CBA}"/>
              </a:ext>
            </a:extLst>
          </p:cNvPr>
          <p:cNvPicPr>
            <a:picLocks noChangeAspect="1"/>
          </p:cNvPicPr>
          <p:nvPr/>
        </p:nvPicPr>
        <p:blipFill>
          <a:blip r:embed="rId2"/>
          <a:stretch>
            <a:fillRect/>
          </a:stretch>
        </p:blipFill>
        <p:spPr>
          <a:xfrm>
            <a:off x="5324475" y="1371719"/>
            <a:ext cx="6153150" cy="1122951"/>
          </a:xfrm>
          <a:prstGeom prst="rect">
            <a:avLst/>
          </a:prstGeom>
        </p:spPr>
      </p:pic>
    </p:spTree>
    <p:extLst>
      <p:ext uri="{BB962C8B-B14F-4D97-AF65-F5344CB8AC3E}">
        <p14:creationId xmlns:p14="http://schemas.microsoft.com/office/powerpoint/2010/main" val="1731214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C7A94-D395-8159-2811-23BE88EDD56A}"/>
              </a:ext>
            </a:extLst>
          </p:cNvPr>
          <p:cNvSpPr>
            <a:spLocks noGrp="1"/>
          </p:cNvSpPr>
          <p:nvPr>
            <p:ph type="title"/>
          </p:nvPr>
        </p:nvSpPr>
        <p:spPr/>
        <p:txBody>
          <a:bodyPr/>
          <a:lstStyle/>
          <a:p>
            <a:r>
              <a:rPr lang="en-US" dirty="0"/>
              <a:t>AGENDA </a:t>
            </a:r>
          </a:p>
        </p:txBody>
      </p:sp>
      <p:sp>
        <p:nvSpPr>
          <p:cNvPr id="3" name="Content Placeholder 2">
            <a:extLst>
              <a:ext uri="{FF2B5EF4-FFF2-40B4-BE49-F238E27FC236}">
                <a16:creationId xmlns:a16="http://schemas.microsoft.com/office/drawing/2014/main" id="{5AEFA435-CEB2-550D-F250-39352CACF598}"/>
              </a:ext>
            </a:extLst>
          </p:cNvPr>
          <p:cNvSpPr>
            <a:spLocks noGrp="1"/>
          </p:cNvSpPr>
          <p:nvPr>
            <p:ph idx="1"/>
          </p:nvPr>
        </p:nvSpPr>
        <p:spPr/>
        <p:txBody>
          <a:bodyPr>
            <a:normAutofit/>
          </a:bodyPr>
          <a:lstStyle/>
          <a:p>
            <a:r>
              <a:rPr lang="en-US" sz="1800" dirty="0"/>
              <a:t>ISO 9001 </a:t>
            </a:r>
          </a:p>
          <a:p>
            <a:pPr lvl="1"/>
            <a:r>
              <a:rPr lang="en-US" sz="1800" dirty="0"/>
              <a:t>4.1	Understanding the organization and its context</a:t>
            </a:r>
          </a:p>
          <a:p>
            <a:pPr lvl="1"/>
            <a:r>
              <a:rPr lang="en-US" sz="1800" dirty="0"/>
              <a:t>4.2	Understanding the needs and expectations of interested parties</a:t>
            </a:r>
          </a:p>
          <a:p>
            <a:pPr lvl="1"/>
            <a:r>
              <a:rPr lang="en-US" sz="1800" dirty="0"/>
              <a:t>4.3	Determining the scope of the quality management system</a:t>
            </a:r>
          </a:p>
          <a:p>
            <a:pPr lvl="1"/>
            <a:r>
              <a:rPr lang="en-US" sz="1800" dirty="0"/>
              <a:t>4.4	Quality management system and its processes</a:t>
            </a:r>
          </a:p>
          <a:p>
            <a:r>
              <a:rPr lang="en-US" sz="1800" dirty="0"/>
              <a:t>ISO 13485</a:t>
            </a:r>
          </a:p>
          <a:p>
            <a:pPr lvl="1"/>
            <a:r>
              <a:rPr lang="en-US" sz="1800" dirty="0"/>
              <a:t>4.1	General requirements	</a:t>
            </a:r>
          </a:p>
          <a:p>
            <a:pPr lvl="1"/>
            <a:r>
              <a:rPr lang="en-US" sz="1800" dirty="0"/>
              <a:t>4.2	Documentation requirements</a:t>
            </a:r>
          </a:p>
          <a:p>
            <a:pPr lvl="1"/>
            <a:r>
              <a:rPr lang="en-US" sz="1800" dirty="0"/>
              <a:t>4.2.2	Quality manual</a:t>
            </a:r>
          </a:p>
        </p:txBody>
      </p:sp>
    </p:spTree>
    <p:extLst>
      <p:ext uri="{BB962C8B-B14F-4D97-AF65-F5344CB8AC3E}">
        <p14:creationId xmlns:p14="http://schemas.microsoft.com/office/powerpoint/2010/main" val="3777720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35DFB-530D-6E3E-2A72-50DEFB6DE7D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3B52416-C0E6-0522-CDD3-8D499EA28D73}"/>
              </a:ext>
            </a:extLst>
          </p:cNvPr>
          <p:cNvSpPr>
            <a:spLocks noGrp="1"/>
          </p:cNvSpPr>
          <p:nvPr>
            <p:ph idx="1"/>
          </p:nvPr>
        </p:nvSpPr>
        <p:spPr/>
        <p:txBody>
          <a:bodyPr/>
          <a:lstStyle/>
          <a:p>
            <a:r>
              <a:rPr lang="en-US">
                <a:hlinkClick r:id="rId2" action="ppaction://hlinkfile"/>
              </a:rPr>
              <a:t>NEW QMS\4 Context of the Organization\Procedures\P-400-01 A - Organizational Context.docx</a:t>
            </a:r>
            <a:endParaRPr lang="en-US"/>
          </a:p>
        </p:txBody>
      </p:sp>
    </p:spTree>
    <p:extLst>
      <p:ext uri="{BB962C8B-B14F-4D97-AF65-F5344CB8AC3E}">
        <p14:creationId xmlns:p14="http://schemas.microsoft.com/office/powerpoint/2010/main" val="1221250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C0FD6-9FA1-039B-9128-82E955ACA790}"/>
              </a:ext>
            </a:extLst>
          </p:cNvPr>
          <p:cNvSpPr>
            <a:spLocks noGrp="1"/>
          </p:cNvSpPr>
          <p:nvPr>
            <p:ph type="title"/>
          </p:nvPr>
        </p:nvSpPr>
        <p:spPr/>
        <p:txBody>
          <a:bodyPr/>
          <a:lstStyle/>
          <a:p>
            <a:r>
              <a:rPr lang="en-US" dirty="0"/>
              <a:t>PROCEDURES </a:t>
            </a:r>
          </a:p>
        </p:txBody>
      </p:sp>
      <p:sp>
        <p:nvSpPr>
          <p:cNvPr id="3" name="Content Placeholder 2">
            <a:extLst>
              <a:ext uri="{FF2B5EF4-FFF2-40B4-BE49-F238E27FC236}">
                <a16:creationId xmlns:a16="http://schemas.microsoft.com/office/drawing/2014/main" id="{F2EA2B42-2F70-6F64-D8C1-4B4C239EC863}"/>
              </a:ext>
            </a:extLst>
          </p:cNvPr>
          <p:cNvSpPr>
            <a:spLocks noGrp="1"/>
          </p:cNvSpPr>
          <p:nvPr>
            <p:ph idx="1"/>
          </p:nvPr>
        </p:nvSpPr>
        <p:spPr/>
        <p:txBody>
          <a:bodyPr/>
          <a:lstStyle/>
          <a:p>
            <a:r>
              <a:rPr lang="en-US" dirty="0"/>
              <a:t>P-400-01 Organizational Context</a:t>
            </a:r>
          </a:p>
          <a:p>
            <a:r>
              <a:rPr lang="en-US" dirty="0"/>
              <a:t>P-530-01 Software Validation</a:t>
            </a:r>
          </a:p>
        </p:txBody>
      </p:sp>
    </p:spTree>
    <p:extLst>
      <p:ext uri="{BB962C8B-B14F-4D97-AF65-F5344CB8AC3E}">
        <p14:creationId xmlns:p14="http://schemas.microsoft.com/office/powerpoint/2010/main" val="3491685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216B0-323C-253B-1C4A-2B8833300F7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8C6FA3D-96C3-9A9F-64CF-D6D9C0756E8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159052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6454B-59BD-42D9-8CD6-8FF7E0800D48}"/>
              </a:ext>
            </a:extLst>
          </p:cNvPr>
          <p:cNvSpPr>
            <a:spLocks noGrp="1"/>
          </p:cNvSpPr>
          <p:nvPr>
            <p:ph type="title"/>
          </p:nvPr>
        </p:nvSpPr>
        <p:spPr/>
        <p:txBody>
          <a:bodyPr/>
          <a:lstStyle/>
          <a:p>
            <a:r>
              <a:rPr lang="en-US" dirty="0"/>
              <a:t>PURPOSE AND RESPONSIBILITIES OF P-400</a:t>
            </a:r>
          </a:p>
        </p:txBody>
      </p:sp>
      <p:sp>
        <p:nvSpPr>
          <p:cNvPr id="3" name="Content Placeholder 2">
            <a:extLst>
              <a:ext uri="{FF2B5EF4-FFF2-40B4-BE49-F238E27FC236}">
                <a16:creationId xmlns:a16="http://schemas.microsoft.com/office/drawing/2014/main" id="{DB7E802E-B054-5453-EA72-66C6B2FA958D}"/>
              </a:ext>
            </a:extLst>
          </p:cNvPr>
          <p:cNvSpPr>
            <a:spLocks noGrp="1"/>
          </p:cNvSpPr>
          <p:nvPr>
            <p:ph idx="1"/>
          </p:nvPr>
        </p:nvSpPr>
        <p:spPr/>
        <p:txBody>
          <a:bodyPr/>
          <a:lstStyle/>
          <a:p>
            <a:r>
              <a:rPr lang="en-US" dirty="0"/>
              <a:t>PURPOSE </a:t>
            </a:r>
          </a:p>
          <a:p>
            <a:pPr lvl="1"/>
            <a:r>
              <a:rPr lang="en-US" dirty="0"/>
              <a:t>TO ENSURE THE ORGASNIZATIONAL CONTEXT </a:t>
            </a:r>
          </a:p>
          <a:p>
            <a:pPr lvl="1"/>
            <a:r>
              <a:rPr lang="en-US" dirty="0"/>
              <a:t>MANAGE NEEDS AND EXPECTATIONS </a:t>
            </a:r>
          </a:p>
          <a:p>
            <a:pPr lvl="1"/>
            <a:r>
              <a:rPr lang="en-US" dirty="0"/>
              <a:t>IDENTIFY INTERESTED PARTIES </a:t>
            </a:r>
          </a:p>
          <a:p>
            <a:r>
              <a:rPr lang="en-US" dirty="0"/>
              <a:t>RESPONSIBILITIES </a:t>
            </a:r>
          </a:p>
          <a:p>
            <a:pPr lvl="1"/>
            <a:r>
              <a:rPr lang="en-US" dirty="0"/>
              <a:t>TOP MANAGEMENT MAINTANS OWNERSHIP OF THE PROCEDURE </a:t>
            </a:r>
          </a:p>
          <a:p>
            <a:pPr lvl="1"/>
            <a:r>
              <a:rPr lang="en-US" dirty="0"/>
              <a:t>TOP MANAGEMENT FLOOWS THE INFORMATION TO THE STAKE HOLDERS </a:t>
            </a:r>
          </a:p>
          <a:p>
            <a:endParaRPr lang="en-US" dirty="0"/>
          </a:p>
        </p:txBody>
      </p:sp>
    </p:spTree>
    <p:extLst>
      <p:ext uri="{BB962C8B-B14F-4D97-AF65-F5344CB8AC3E}">
        <p14:creationId xmlns:p14="http://schemas.microsoft.com/office/powerpoint/2010/main" val="3857880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AE400-A44C-197C-4BC7-A128493DB22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66467B0-BD83-ECD5-5A13-AC5DE7EDCAF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9363484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734B1-9245-411A-392E-EED91CD3D1A8}"/>
              </a:ext>
            </a:extLst>
          </p:cNvPr>
          <p:cNvSpPr>
            <a:spLocks noGrp="1"/>
          </p:cNvSpPr>
          <p:nvPr>
            <p:ph type="title"/>
          </p:nvPr>
        </p:nvSpPr>
        <p:spPr/>
        <p:txBody>
          <a:bodyPr/>
          <a:lstStyle/>
          <a:p>
            <a:r>
              <a:rPr lang="en-US" dirty="0"/>
              <a:t>What is organizational context </a:t>
            </a:r>
          </a:p>
        </p:txBody>
      </p:sp>
      <p:sp>
        <p:nvSpPr>
          <p:cNvPr id="3" name="Content Placeholder 2">
            <a:extLst>
              <a:ext uri="{FF2B5EF4-FFF2-40B4-BE49-F238E27FC236}">
                <a16:creationId xmlns:a16="http://schemas.microsoft.com/office/drawing/2014/main" id="{E8B48A23-E305-72E7-9255-FA2AD8E2C51E}"/>
              </a:ext>
            </a:extLst>
          </p:cNvPr>
          <p:cNvSpPr>
            <a:spLocks noGrp="1"/>
          </p:cNvSpPr>
          <p:nvPr>
            <p:ph idx="1"/>
          </p:nvPr>
        </p:nvSpPr>
        <p:spPr>
          <a:xfrm>
            <a:off x="584200" y="4813299"/>
            <a:ext cx="10769600" cy="1485901"/>
          </a:xfrm>
        </p:spPr>
        <p:txBody>
          <a:bodyPr>
            <a:normAutofit fontScale="77500" lnSpcReduction="20000"/>
          </a:bodyPr>
          <a:lstStyle/>
          <a:p>
            <a:r>
              <a:rPr lang="en-US" sz="2100" dirty="0"/>
              <a:t>Issues can include positive and negative factors or conditions for consideration.</a:t>
            </a:r>
          </a:p>
          <a:p>
            <a:r>
              <a:rPr lang="en-US" sz="2100" dirty="0"/>
              <a:t>Understanding the external context can be facilitated by considering issues arising from legal, technological, competitive, market, cultural, social and economic environments, whether international, national, regional or local.</a:t>
            </a:r>
          </a:p>
          <a:p>
            <a:r>
              <a:rPr lang="en-US" sz="2100" dirty="0"/>
              <a:t>Understanding the internal context can be facilitated by considering issues related to values, culture, knowledge and performance of the organization.</a:t>
            </a:r>
          </a:p>
          <a:p>
            <a:endParaRPr lang="en-US" dirty="0"/>
          </a:p>
        </p:txBody>
      </p:sp>
      <p:sp>
        <p:nvSpPr>
          <p:cNvPr id="4" name="TextBox 3">
            <a:extLst>
              <a:ext uri="{FF2B5EF4-FFF2-40B4-BE49-F238E27FC236}">
                <a16:creationId xmlns:a16="http://schemas.microsoft.com/office/drawing/2014/main" id="{953DD2F8-AA67-0289-5718-43644B0CFAD5}"/>
              </a:ext>
            </a:extLst>
          </p:cNvPr>
          <p:cNvSpPr txBox="1"/>
          <p:nvPr/>
        </p:nvSpPr>
        <p:spPr>
          <a:xfrm>
            <a:off x="838200" y="1257300"/>
            <a:ext cx="9779000" cy="2736134"/>
          </a:xfrm>
          <a:prstGeom prst="rect">
            <a:avLst/>
          </a:prstGeom>
          <a:noFill/>
        </p:spPr>
        <p:txBody>
          <a:bodyPr wrap="square" rtlCol="0">
            <a:spAutoFit/>
          </a:bodyPr>
          <a:lstStyle/>
          <a:p>
            <a:pPr marL="228600" indent="-228600">
              <a:lnSpc>
                <a:spcPct val="70000"/>
              </a:lnSpc>
              <a:spcBef>
                <a:spcPts val="1000"/>
              </a:spcBef>
              <a:buFont typeface="Arial" panose="020B0604020202020204" pitchFamily="34" charset="0"/>
              <a:buChar char="•"/>
            </a:pPr>
            <a:r>
              <a:rPr lang="en-US" sz="1600" dirty="0"/>
              <a:t>To understand the organization and its context organizations determine the internal and external issues that are relevant and affect their ability to achieve their intended outcome for their QMS. </a:t>
            </a:r>
          </a:p>
          <a:p>
            <a:pPr marL="228600" indent="-228600">
              <a:lnSpc>
                <a:spcPct val="70000"/>
              </a:lnSpc>
              <a:spcBef>
                <a:spcPts val="1000"/>
              </a:spcBef>
              <a:buFont typeface="Arial" panose="020B0604020202020204" pitchFamily="34" charset="0"/>
              <a:buChar char="•"/>
            </a:pPr>
            <a:r>
              <a:rPr lang="en-US" sz="1600" dirty="0"/>
              <a:t>The external and internal issues include production and service conditions capable of affecting or being affected by the organization.</a:t>
            </a:r>
          </a:p>
          <a:p>
            <a:pPr marL="228600" indent="-228600">
              <a:lnSpc>
                <a:spcPct val="70000"/>
              </a:lnSpc>
              <a:spcBef>
                <a:spcPts val="1000"/>
              </a:spcBef>
              <a:buFont typeface="Arial" panose="020B0604020202020204" pitchFamily="34" charset="0"/>
              <a:buChar char="•"/>
            </a:pPr>
            <a:r>
              <a:rPr lang="en-US" sz="1600" dirty="0"/>
              <a:t>Relevant internal issues may also include business and QMS conditions related to the area as a leadership customer focus engagement of people, the process approach, improvement, evidence-based decision making and relationship management. </a:t>
            </a:r>
          </a:p>
          <a:p>
            <a:pPr marL="228600" indent="-228600">
              <a:lnSpc>
                <a:spcPct val="70000"/>
              </a:lnSpc>
              <a:spcBef>
                <a:spcPts val="1000"/>
              </a:spcBef>
              <a:buFont typeface="Arial" panose="020B0604020202020204" pitchFamily="34" charset="0"/>
              <a:buChar char="•"/>
            </a:pPr>
            <a:r>
              <a:rPr lang="en-US" sz="1600" dirty="0"/>
              <a:t>External issues can include those of cultural, social, political, legal, regulatory, financial, and other outside sources that could impact the QMS  </a:t>
            </a:r>
          </a:p>
          <a:p>
            <a:endParaRPr lang="en-US" sz="1400" dirty="0"/>
          </a:p>
          <a:p>
            <a:endParaRPr lang="en-US" sz="1400" dirty="0"/>
          </a:p>
          <a:p>
            <a:endParaRPr lang="en-US" dirty="0"/>
          </a:p>
        </p:txBody>
      </p:sp>
    </p:spTree>
    <p:extLst>
      <p:ext uri="{BB962C8B-B14F-4D97-AF65-F5344CB8AC3E}">
        <p14:creationId xmlns:p14="http://schemas.microsoft.com/office/powerpoint/2010/main" val="1522668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2975D-0AE3-28F0-E3FB-61D4E605213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087F796-98BA-FC32-11AC-FF5D9D53FA9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014876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8CC26-F47B-94E4-C5ED-7936648C305B}"/>
              </a:ext>
            </a:extLst>
          </p:cNvPr>
          <p:cNvSpPr>
            <a:spLocks noGrp="1"/>
          </p:cNvSpPr>
          <p:nvPr>
            <p:ph type="title"/>
          </p:nvPr>
        </p:nvSpPr>
        <p:spPr/>
        <p:txBody>
          <a:bodyPr/>
          <a:lstStyle/>
          <a:p>
            <a:pPr algn="ctr"/>
            <a:r>
              <a:rPr lang="en-US" dirty="0"/>
              <a:t>IDENTIFY INTERESTED PARTIES </a:t>
            </a:r>
          </a:p>
        </p:txBody>
      </p:sp>
      <p:sp>
        <p:nvSpPr>
          <p:cNvPr id="3" name="Content Placeholder 2">
            <a:extLst>
              <a:ext uri="{FF2B5EF4-FFF2-40B4-BE49-F238E27FC236}">
                <a16:creationId xmlns:a16="http://schemas.microsoft.com/office/drawing/2014/main" id="{A6F71835-BD4B-8286-700D-26CE895051DD}"/>
              </a:ext>
            </a:extLst>
          </p:cNvPr>
          <p:cNvSpPr>
            <a:spLocks noGrp="1"/>
          </p:cNvSpPr>
          <p:nvPr>
            <p:ph idx="1"/>
          </p:nvPr>
        </p:nvSpPr>
        <p:spPr/>
        <p:txBody>
          <a:bodyPr>
            <a:normAutofit/>
          </a:bodyPr>
          <a:lstStyle/>
          <a:p>
            <a:r>
              <a:rPr lang="en-US" sz="1000" dirty="0"/>
              <a:t>5. To completely understand the needs and expectations of interested parties, The Organization identifies the interested parties that are relevant to the QMS. </a:t>
            </a:r>
          </a:p>
          <a:p>
            <a:r>
              <a:rPr lang="en-US" sz="1000" dirty="0"/>
              <a:t>6. The interested parties are identified, and their expectations and needs (requirements) are determined along with which of their requirements become regulatory requirements. </a:t>
            </a:r>
          </a:p>
          <a:p>
            <a:r>
              <a:rPr lang="en-US" sz="1000" dirty="0"/>
              <a:t>7. Interested parties concerned with or affected by the quality performance of The Organization that have been identified are:</a:t>
            </a:r>
          </a:p>
          <a:p>
            <a:r>
              <a:rPr lang="en-US" sz="1000" dirty="0"/>
              <a:t>Customers, suppliers, Top Management, and employees. See Figure 1 (attached) for details on the selected interested party’s needs, expectations, and monitoring processes.</a:t>
            </a:r>
          </a:p>
          <a:p>
            <a:r>
              <a:rPr lang="en-US" sz="1000" dirty="0"/>
              <a:t>Landlords, Utilities, Statutory and Regulatory Authorities, </a:t>
            </a:r>
          </a:p>
          <a:p>
            <a:r>
              <a:rPr lang="en-US" sz="1000" dirty="0"/>
              <a:t>8. In support of top management, the Quality Management Team is continually on alert for information regarding relevant interested parties and how they can impact the QMS.</a:t>
            </a:r>
          </a:p>
          <a:p>
            <a:r>
              <a:rPr lang="en-US" sz="1000" dirty="0"/>
              <a:t>8.1.During the development and implementation phases of the QMS, the identification of relevant interested parties and their requirements are followed up at the regular (bi-weekly) Quality Team meetings as well as during Management Review and Internal Audits. </a:t>
            </a:r>
          </a:p>
          <a:p>
            <a:r>
              <a:rPr lang="en-US" sz="1000" dirty="0"/>
              <a:t>8.2.Notes or minutes of these meetings provide the evidence that the needs of interested parties are addressed.</a:t>
            </a:r>
          </a:p>
          <a:p>
            <a:r>
              <a:rPr lang="en-US" sz="1000" dirty="0"/>
              <a:t>8.3. As required to document, follow up and update the identified relevant internal and external issues, the Management Representative makes use of the MRM template.</a:t>
            </a:r>
          </a:p>
          <a:p>
            <a:endParaRPr lang="en-US" sz="900" dirty="0"/>
          </a:p>
        </p:txBody>
      </p:sp>
    </p:spTree>
    <p:extLst>
      <p:ext uri="{BB962C8B-B14F-4D97-AF65-F5344CB8AC3E}">
        <p14:creationId xmlns:p14="http://schemas.microsoft.com/office/powerpoint/2010/main" val="1343032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0B76D-D797-F3B1-4CB1-141CEF43374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F186BF7-55BF-6CA0-8953-B1D1954548A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02958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AEC15-7A7F-E060-F7D8-5D8F1613C712}"/>
              </a:ext>
            </a:extLst>
          </p:cNvPr>
          <p:cNvSpPr>
            <a:spLocks noGrp="1"/>
          </p:cNvSpPr>
          <p:nvPr>
            <p:ph type="title"/>
          </p:nvPr>
        </p:nvSpPr>
        <p:spPr/>
        <p:txBody>
          <a:bodyPr/>
          <a:lstStyle/>
          <a:p>
            <a:pPr algn="ctr"/>
            <a:r>
              <a:rPr lang="en-US" dirty="0"/>
              <a:t>MANAGE NEEDS AND EXPECTATIONS </a:t>
            </a:r>
          </a:p>
        </p:txBody>
      </p:sp>
      <p:sp>
        <p:nvSpPr>
          <p:cNvPr id="3" name="Content Placeholder 2">
            <a:extLst>
              <a:ext uri="{FF2B5EF4-FFF2-40B4-BE49-F238E27FC236}">
                <a16:creationId xmlns:a16="http://schemas.microsoft.com/office/drawing/2014/main" id="{B46CD854-03E1-5B45-2328-0B0DD071DC03}"/>
              </a:ext>
            </a:extLst>
          </p:cNvPr>
          <p:cNvSpPr>
            <a:spLocks noGrp="1"/>
          </p:cNvSpPr>
          <p:nvPr>
            <p:ph idx="1"/>
          </p:nvPr>
        </p:nvSpPr>
        <p:spPr/>
        <p:txBody>
          <a:bodyPr>
            <a:normAutofit fontScale="92500" lnSpcReduction="20000"/>
          </a:bodyPr>
          <a:lstStyle/>
          <a:p>
            <a:r>
              <a:rPr lang="en-US" sz="1200" dirty="0"/>
              <a:t>6. The interested parties are identified, and their expectations and needs (requirements) are determined along with which of their requirements become regulatory requirements. </a:t>
            </a:r>
          </a:p>
          <a:p>
            <a:r>
              <a:rPr lang="en-US" sz="1200" dirty="0"/>
              <a:t>10. As related to this procedure, the QMS combines the relevant external and internal factors and conditions to complete an activity loop from leadership through continual improvement to show compliance with the ISO standards and Regulatory requirements. </a:t>
            </a:r>
          </a:p>
          <a:p>
            <a:r>
              <a:rPr lang="en-US" sz="1200" dirty="0"/>
              <a:t>13. The scope is available and maintained as documented information stating the products and services covered by the QMS. The scope of the QMS is as follows: </a:t>
            </a:r>
          </a:p>
          <a:p>
            <a:r>
              <a:rPr lang="en-US" sz="1200" dirty="0"/>
              <a:t>•The Requirements of ISO 9001 / ISO13485 and any requirements of statutory or regulatory bodies with consideration of Interested parties needs and expectations.</a:t>
            </a:r>
          </a:p>
          <a:p>
            <a:r>
              <a:rPr lang="en-US" sz="1200" dirty="0"/>
              <a:t>15.	To establish, implement, maintain, and improve the QMS, The Organization determines the processes needed and their interaction and application throughout The Organization. </a:t>
            </a:r>
          </a:p>
          <a:p>
            <a:r>
              <a:rPr lang="en-US" sz="1200" dirty="0"/>
              <a:t>16.	This process approach provides for the management of the quality system and its processes through the application of a “Plan-Do-Check-Act” continual improvement methodology, and a focus on “Risk-Based-Thinking” that lead to the prevention of undesirable outcomes. </a:t>
            </a:r>
          </a:p>
          <a:p>
            <a:r>
              <a:rPr lang="en-US" sz="1200" dirty="0"/>
              <a:t>17.	In support of Top Management, the planning procedures, planning for the Quality management system and, Operational planning and control are established to further detail the processes. </a:t>
            </a:r>
          </a:p>
          <a:p>
            <a:r>
              <a:rPr lang="en-US" sz="1200" dirty="0"/>
              <a:t>18.	In support of Top Management, the procedure for Management review is used to evaluate the performance of the QMS </a:t>
            </a:r>
          </a:p>
          <a:p>
            <a:r>
              <a:rPr lang="en-US" sz="1200" dirty="0"/>
              <a:t>19.	The customer and applicable statutory and regulatory quality system requirements relevant to the QMS are addressed </a:t>
            </a:r>
          </a:p>
          <a:p>
            <a:r>
              <a:rPr lang="en-US" sz="1200" dirty="0"/>
              <a:t>20.	The customer requirements are addressed with the procedure for customer related processes.</a:t>
            </a:r>
          </a:p>
          <a:p>
            <a:r>
              <a:rPr lang="en-US" sz="1200" dirty="0"/>
              <a:t>21.	In support of top management, the Management Representative is continually on alert for information regarding relevant statutory and regulatory requirements.</a:t>
            </a:r>
          </a:p>
          <a:p>
            <a:r>
              <a:rPr lang="en-US" sz="1200" dirty="0"/>
              <a:t>21.1.	During the development and implementation phases of the QMS, the identification of relevant requirements is followed up at the regularly scheduled Quality Team meetings. </a:t>
            </a:r>
          </a:p>
          <a:p>
            <a:r>
              <a:rPr lang="en-US" sz="1200" dirty="0"/>
              <a:t>21.2.	Notes or minutes of Quality Team meetings provide the evidence that the requirements are addressed.</a:t>
            </a:r>
          </a:p>
          <a:p>
            <a:r>
              <a:rPr lang="en-US" sz="1200" dirty="0"/>
              <a:t>21.3.	As required to document, follow up and update the identified requirements, the Management Representative makes use of the relevant sections of the MRM template</a:t>
            </a:r>
          </a:p>
        </p:txBody>
      </p:sp>
    </p:spTree>
    <p:extLst>
      <p:ext uri="{BB962C8B-B14F-4D97-AF65-F5344CB8AC3E}">
        <p14:creationId xmlns:p14="http://schemas.microsoft.com/office/powerpoint/2010/main" val="2864469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44AC6-CEFC-1717-F390-A37BFDF8B42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CD00533-AE8E-331B-3C1C-E9DBCEFEE7DA}"/>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683110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C7120-12FD-A149-8103-7E492B9FB3E1}"/>
              </a:ext>
            </a:extLst>
          </p:cNvPr>
          <p:cNvSpPr>
            <a:spLocks noGrp="1"/>
          </p:cNvSpPr>
          <p:nvPr>
            <p:ph type="title"/>
          </p:nvPr>
        </p:nvSpPr>
        <p:spPr/>
        <p:txBody>
          <a:bodyPr>
            <a:normAutofit/>
          </a:bodyPr>
          <a:lstStyle/>
          <a:p>
            <a:pPr algn="ctr"/>
            <a:r>
              <a:rPr lang="en-US" dirty="0"/>
              <a:t>TOP MANAGEMENT MAINTANS OWNERSHIP OF THE PROCEDURE </a:t>
            </a:r>
          </a:p>
        </p:txBody>
      </p:sp>
      <p:sp>
        <p:nvSpPr>
          <p:cNvPr id="3" name="Content Placeholder 2">
            <a:extLst>
              <a:ext uri="{FF2B5EF4-FFF2-40B4-BE49-F238E27FC236}">
                <a16:creationId xmlns:a16="http://schemas.microsoft.com/office/drawing/2014/main" id="{263D78FE-8208-B4AD-C101-37A932344BB9}"/>
              </a:ext>
            </a:extLst>
          </p:cNvPr>
          <p:cNvSpPr>
            <a:spLocks noGrp="1"/>
          </p:cNvSpPr>
          <p:nvPr>
            <p:ph idx="1"/>
          </p:nvPr>
        </p:nvSpPr>
        <p:spPr/>
        <p:txBody>
          <a:bodyPr>
            <a:normAutofit lnSpcReduction="10000"/>
          </a:bodyPr>
          <a:lstStyle/>
          <a:p>
            <a:r>
              <a:rPr lang="en-US" sz="1200" dirty="0"/>
              <a:t>22.	The applicable statutory and regulatory requirements are reviewed and recorded in the management review meeting minutes. </a:t>
            </a:r>
          </a:p>
          <a:p>
            <a:endParaRPr lang="en-US" sz="1200" dirty="0"/>
          </a:p>
          <a:p>
            <a:r>
              <a:rPr lang="en-US" sz="1200" dirty="0"/>
              <a:t>23.	The Organization maintains, and controls documented information to support the operation of processes and retains documented information needed to provide confidence and evidence that the processes are being carried out as planned</a:t>
            </a:r>
          </a:p>
          <a:p>
            <a:r>
              <a:rPr lang="en-US" sz="1200" dirty="0"/>
              <a:t>24.	The documented information collectively describes the QMS where a pyramid-shape documentation structure provides for:</a:t>
            </a:r>
          </a:p>
          <a:p>
            <a:r>
              <a:rPr lang="en-US" sz="1200" dirty="0"/>
              <a:t>•	Tier I -   Manual </a:t>
            </a:r>
          </a:p>
          <a:p>
            <a:r>
              <a:rPr lang="en-US" sz="1200" dirty="0"/>
              <a:t>•	Tier II - Procedures</a:t>
            </a:r>
          </a:p>
          <a:p>
            <a:r>
              <a:rPr lang="en-US" sz="1200" dirty="0"/>
              <a:t>•	Tier III - Work Instructions</a:t>
            </a:r>
          </a:p>
          <a:p>
            <a:r>
              <a:rPr lang="en-US" sz="1200" dirty="0"/>
              <a:t>•	Tier IV - Quality Records/attachments </a:t>
            </a:r>
          </a:p>
          <a:p>
            <a:r>
              <a:rPr lang="en-US" sz="1200" dirty="0"/>
              <a:t>25.	The procedure for documented information is established to control documentation and to retain records. </a:t>
            </a:r>
          </a:p>
          <a:p>
            <a:r>
              <a:rPr lang="en-US" sz="1200" dirty="0"/>
              <a:t>26.	As related to organizational context, documented information is maintained for:</a:t>
            </a:r>
          </a:p>
          <a:p>
            <a:r>
              <a:rPr lang="en-US" sz="1200" dirty="0"/>
              <a:t>•	Description of interested parties </a:t>
            </a:r>
          </a:p>
          <a:p>
            <a:r>
              <a:rPr lang="en-US" sz="1200" dirty="0"/>
              <a:t>•	Scope of the QMS </a:t>
            </a:r>
          </a:p>
          <a:p>
            <a:r>
              <a:rPr lang="en-US" sz="1200" dirty="0"/>
              <a:t>•	Description of the QMS processes </a:t>
            </a:r>
          </a:p>
          <a:p>
            <a:r>
              <a:rPr lang="en-US" sz="1200" dirty="0"/>
              <a:t>•	Interaction of the QMS processes </a:t>
            </a:r>
          </a:p>
          <a:p>
            <a:r>
              <a:rPr lang="en-US" sz="1200" dirty="0"/>
              <a:t>•	Assignment of responsibilities and authorities </a:t>
            </a:r>
          </a:p>
        </p:txBody>
      </p:sp>
    </p:spTree>
    <p:extLst>
      <p:ext uri="{BB962C8B-B14F-4D97-AF65-F5344CB8AC3E}">
        <p14:creationId xmlns:p14="http://schemas.microsoft.com/office/powerpoint/2010/main" val="12467739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389B3-733B-D37B-B832-82B24D2F723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725C3F6-075D-13A4-A03D-7CAAAD6B845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80484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FC192-125D-8B6E-128D-5BE70595FE68}"/>
              </a:ext>
            </a:extLst>
          </p:cNvPr>
          <p:cNvSpPr>
            <a:spLocks noGrp="1"/>
          </p:cNvSpPr>
          <p:nvPr>
            <p:ph type="title"/>
          </p:nvPr>
        </p:nvSpPr>
        <p:spPr/>
        <p:txBody>
          <a:bodyPr>
            <a:normAutofit/>
          </a:bodyPr>
          <a:lstStyle/>
          <a:p>
            <a:pPr algn="ctr"/>
            <a:r>
              <a:rPr lang="en-US" dirty="0"/>
              <a:t>TOP MANAGEMENT FLOOWS THE INFORMATION TO THE STAKE HOLDERS </a:t>
            </a:r>
          </a:p>
        </p:txBody>
      </p:sp>
      <p:sp>
        <p:nvSpPr>
          <p:cNvPr id="3" name="Content Placeholder 2">
            <a:extLst>
              <a:ext uri="{FF2B5EF4-FFF2-40B4-BE49-F238E27FC236}">
                <a16:creationId xmlns:a16="http://schemas.microsoft.com/office/drawing/2014/main" id="{7C661ED5-98D7-0EC6-76DC-BB8DFC45D04D}"/>
              </a:ext>
            </a:extLst>
          </p:cNvPr>
          <p:cNvSpPr>
            <a:spLocks noGrp="1"/>
          </p:cNvSpPr>
          <p:nvPr>
            <p:ph idx="1"/>
          </p:nvPr>
        </p:nvSpPr>
        <p:spPr/>
        <p:txBody>
          <a:bodyPr>
            <a:normAutofit/>
          </a:bodyPr>
          <a:lstStyle/>
          <a:p>
            <a:r>
              <a:rPr lang="en-US" sz="1200" dirty="0"/>
              <a:t>The organization maintains information to all key parties through:</a:t>
            </a:r>
          </a:p>
          <a:p>
            <a:r>
              <a:rPr lang="en-US" sz="1200" dirty="0"/>
              <a:t> quality objectives, KPIs, management review, And regular meetings with upper management to give current and effective information To all interested parties </a:t>
            </a:r>
          </a:p>
          <a:p>
            <a:pPr marL="0" indent="0">
              <a:buNone/>
            </a:pPr>
            <a:r>
              <a:rPr lang="en-US" sz="1200" dirty="0"/>
              <a:t>
KPIs include but are not limited to:</a:t>
            </a:r>
          </a:p>
          <a:p>
            <a:r>
              <a:rPr lang="en-US" sz="1200" dirty="0"/>
              <a:t>•	On Time Delivery</a:t>
            </a:r>
          </a:p>
          <a:p>
            <a:r>
              <a:rPr lang="en-US" sz="1200" dirty="0"/>
              <a:t>•	Escaped Defects</a:t>
            </a:r>
          </a:p>
          <a:p>
            <a:r>
              <a:rPr lang="en-US" sz="1200" dirty="0"/>
              <a:t>•	Customer Satisfaction</a:t>
            </a:r>
          </a:p>
          <a:p>
            <a:r>
              <a:rPr lang="en-US" sz="1200" dirty="0"/>
              <a:t>•	Employee Safety</a:t>
            </a:r>
          </a:p>
          <a:p>
            <a:r>
              <a:rPr lang="en-US" sz="1200" dirty="0"/>
              <a:t>•	Supplier Quality</a:t>
            </a:r>
          </a:p>
          <a:p>
            <a:r>
              <a:rPr lang="en-US" sz="1200" dirty="0"/>
              <a:t>•	Company Growth</a:t>
            </a:r>
          </a:p>
          <a:p>
            <a:endParaRPr lang="en-US" sz="1200" dirty="0"/>
          </a:p>
        </p:txBody>
      </p:sp>
    </p:spTree>
    <p:extLst>
      <p:ext uri="{BB962C8B-B14F-4D97-AF65-F5344CB8AC3E}">
        <p14:creationId xmlns:p14="http://schemas.microsoft.com/office/powerpoint/2010/main" val="8423463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7EA2F-2C55-D384-EF74-6D12CF4EB76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2BDC950-1D9B-2661-398C-8FC04FC78E3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2193022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0C40D-DBA2-B4ED-CAE9-2512D9BC89C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3E5CB1C-0FE3-3E47-EC86-D631980A8E2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68087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DD154-CE36-106D-1F34-18871C174B1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4F1B354-3017-D300-7645-7C7AF06235E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3210706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1D54A-11CE-5CB0-6F2E-91E2BCA63AA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FF43F8F-0346-177A-A078-2B11D117EE2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4650421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ADA2F-2217-2EA8-046C-4D24FA2AF6D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4B32ABD-A079-2577-5E5D-6D7E4582914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337742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9DF6A-6EDA-B93C-8793-A7FDF512630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53D41E-AF89-DF21-FEF1-8A24998BDBA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2885969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F6B38E-5755-C04B-D544-A931D6B72BE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6EDA3AC-F732-2EE3-B203-5C1737CC2497}"/>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1519712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A8347-9CA7-CC09-2B6F-16635E70C55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04834A1-676E-853E-6789-78028464B72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9948976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E9442-DAE9-53AA-CD11-5B059F0714C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F02B97F-DDBA-4CE1-CD21-9A392A5FA57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2197538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3007</TotalTime>
  <Words>1404</Words>
  <Application>Microsoft Office PowerPoint</Application>
  <PresentationFormat>Widescreen</PresentationFormat>
  <Paragraphs>94</Paragraphs>
  <Slides>25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Calibri Light</vt:lpstr>
      <vt:lpstr>Office Theme</vt:lpstr>
      <vt:lpstr>Organizational Context </vt:lpstr>
      <vt:lpstr>AGENDA </vt:lpstr>
      <vt:lpstr>PowerPoint Presentation</vt:lpstr>
      <vt:lpstr>PROCEDURES </vt:lpstr>
      <vt:lpstr>PowerPoint Presentation</vt:lpstr>
      <vt:lpstr>PURPOSE AND RESPONSIBILITIES OF P-400</vt:lpstr>
      <vt:lpstr>PowerPoint Presentation</vt:lpstr>
      <vt:lpstr>What is organizational context </vt:lpstr>
      <vt:lpstr>PowerPoint Presentation</vt:lpstr>
      <vt:lpstr>IDENTIFY INTERESTED PARTIES </vt:lpstr>
      <vt:lpstr>PowerPoint Presentation</vt:lpstr>
      <vt:lpstr>MANAGE NEEDS AND EXPECTATIONS </vt:lpstr>
      <vt:lpstr>PowerPoint Presentation</vt:lpstr>
      <vt:lpstr>TOP MANAGEMENT MAINTANS OWNERSHIP OF THE PROCEDURE </vt:lpstr>
      <vt:lpstr>PowerPoint Presentation</vt:lpstr>
      <vt:lpstr>TOP MANAGEMENT FLOOWS THE INFORMATION TO THE STAKE HOLDERS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Organizational Context </dc:title>
  <dc:creator>Brian Olea</dc:creator>
  <cp:lastModifiedBy>Brian Olea</cp:lastModifiedBy>
  <cp:revision>5</cp:revision>
  <dcterms:created xsi:type="dcterms:W3CDTF">2022-10-20T15:48:21Z</dcterms:created>
  <dcterms:modified xsi:type="dcterms:W3CDTF">2022-10-23T18:29:15Z</dcterms:modified>
</cp:coreProperties>
</file>