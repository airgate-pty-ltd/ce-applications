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65" r:id="rId4"/>
    <p:sldId id="258" r:id="rId5"/>
    <p:sldId id="287" r:id="rId6"/>
    <p:sldId id="286" r:id="rId7"/>
    <p:sldId id="266" r:id="rId8"/>
    <p:sldId id="259" r:id="rId9"/>
    <p:sldId id="267" r:id="rId10"/>
    <p:sldId id="260" r:id="rId11"/>
    <p:sldId id="268" r:id="rId12"/>
    <p:sldId id="261" r:id="rId13"/>
    <p:sldId id="269" r:id="rId14"/>
    <p:sldId id="262" r:id="rId15"/>
    <p:sldId id="270" r:id="rId16"/>
    <p:sldId id="263" r:id="rId17"/>
    <p:sldId id="271" r:id="rId18"/>
    <p:sldId id="264" r:id="rId19"/>
    <p:sldId id="272"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0106" autoAdjust="0"/>
  </p:normalViewPr>
  <p:slideViewPr>
    <p:cSldViewPr snapToGrid="0">
      <p:cViewPr varScale="1">
        <p:scale>
          <a:sx n="61" d="100"/>
          <a:sy n="61" d="100"/>
        </p:scale>
        <p:origin x="12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315BF-18A9-4166-95BF-164973B9D4FE}" type="datetimeFigureOut">
              <a:rPr lang="en-US" smtClean="0"/>
              <a:t>10/24/2022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8D18FB-EAC4-49E0-A66F-BE43A60B0E1C}" type="slidenum">
              <a:rPr lang="en-US" smtClean="0"/>
              <a:t>‹#›</a:t>
            </a:fld>
            <a:endParaRPr lang="en-US"/>
          </a:p>
        </p:txBody>
      </p:sp>
    </p:spTree>
    <p:extLst>
      <p:ext uri="{BB962C8B-B14F-4D97-AF65-F5344CB8AC3E}">
        <p14:creationId xmlns:p14="http://schemas.microsoft.com/office/powerpoint/2010/main" val="878164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includes writing CAR’s NCR’s and internal audits To find any issues or nonconformities with the current quality management system </a:t>
            </a:r>
          </a:p>
        </p:txBody>
      </p:sp>
      <p:sp>
        <p:nvSpPr>
          <p:cNvPr id="4" name="Slide Number Placeholder 3"/>
          <p:cNvSpPr>
            <a:spLocks noGrp="1"/>
          </p:cNvSpPr>
          <p:nvPr>
            <p:ph type="sldNum" sz="quarter" idx="5"/>
          </p:nvPr>
        </p:nvSpPr>
        <p:spPr/>
        <p:txBody>
          <a:bodyPr/>
          <a:lstStyle/>
          <a:p>
            <a:fld id="{3B8D18FB-EAC4-49E0-A66F-BE43A60B0E1C}" type="slidenum">
              <a:rPr lang="en-US" smtClean="0"/>
              <a:t>10</a:t>
            </a:fld>
            <a:endParaRPr lang="en-US"/>
          </a:p>
        </p:txBody>
      </p:sp>
    </p:spTree>
    <p:extLst>
      <p:ext uri="{BB962C8B-B14F-4D97-AF65-F5344CB8AC3E}">
        <p14:creationId xmlns:p14="http://schemas.microsoft.com/office/powerpoint/2010/main" val="3805987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could be covering from anything as simple as making sure an employee has the correct paperwork all the way to making sure that the final product is within all of its parameters </a:t>
            </a:r>
          </a:p>
        </p:txBody>
      </p:sp>
      <p:sp>
        <p:nvSpPr>
          <p:cNvPr id="4" name="Slide Number Placeholder 3"/>
          <p:cNvSpPr>
            <a:spLocks noGrp="1"/>
          </p:cNvSpPr>
          <p:nvPr>
            <p:ph type="sldNum" sz="quarter" idx="5"/>
          </p:nvPr>
        </p:nvSpPr>
        <p:spPr/>
        <p:txBody>
          <a:bodyPr/>
          <a:lstStyle/>
          <a:p>
            <a:fld id="{3B8D18FB-EAC4-49E0-A66F-BE43A60B0E1C}" type="slidenum">
              <a:rPr lang="en-US" smtClean="0"/>
              <a:t>12</a:t>
            </a:fld>
            <a:endParaRPr lang="en-US"/>
          </a:p>
        </p:txBody>
      </p:sp>
    </p:spTree>
    <p:extLst>
      <p:ext uri="{BB962C8B-B14F-4D97-AF65-F5344CB8AC3E}">
        <p14:creationId xmlns:p14="http://schemas.microsoft.com/office/powerpoint/2010/main" val="39837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found through constant use of </a:t>
            </a:r>
            <a:r>
              <a:rPr lang="en-US" dirty="0" err="1"/>
              <a:t>cer's</a:t>
            </a:r>
            <a:r>
              <a:rPr lang="en-US" dirty="0"/>
              <a:t> and </a:t>
            </a:r>
            <a:r>
              <a:rPr lang="en-US" dirty="0" err="1"/>
              <a:t>ncr's</a:t>
            </a:r>
            <a:r>
              <a:rPr lang="en-US" dirty="0"/>
              <a:t> as well as the internal audits all hand in hand And allows us to further update and improve systems or procedures in the QMS </a:t>
            </a:r>
          </a:p>
        </p:txBody>
      </p:sp>
      <p:sp>
        <p:nvSpPr>
          <p:cNvPr id="4" name="Slide Number Placeholder 3"/>
          <p:cNvSpPr>
            <a:spLocks noGrp="1"/>
          </p:cNvSpPr>
          <p:nvPr>
            <p:ph type="sldNum" sz="quarter" idx="5"/>
          </p:nvPr>
        </p:nvSpPr>
        <p:spPr/>
        <p:txBody>
          <a:bodyPr/>
          <a:lstStyle/>
          <a:p>
            <a:fld id="{3B8D18FB-EAC4-49E0-A66F-BE43A60B0E1C}" type="slidenum">
              <a:rPr lang="en-US" smtClean="0"/>
              <a:t>14</a:t>
            </a:fld>
            <a:endParaRPr lang="en-US"/>
          </a:p>
        </p:txBody>
      </p:sp>
    </p:spTree>
    <p:extLst>
      <p:ext uri="{BB962C8B-B14F-4D97-AF65-F5344CB8AC3E}">
        <p14:creationId xmlns:p14="http://schemas.microsoft.com/office/powerpoint/2010/main" val="416635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8D18FB-EAC4-49E0-A66F-BE43A60B0E1C}" type="slidenum">
              <a:rPr lang="en-US" smtClean="0"/>
              <a:t>16</a:t>
            </a:fld>
            <a:endParaRPr lang="en-US"/>
          </a:p>
        </p:txBody>
      </p:sp>
    </p:spTree>
    <p:extLst>
      <p:ext uri="{BB962C8B-B14F-4D97-AF65-F5344CB8AC3E}">
        <p14:creationId xmlns:p14="http://schemas.microsoft.com/office/powerpoint/2010/main" val="3130234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25482-A418-5FCC-76D6-0395D03F03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2401B1-028D-71A2-F513-AAC0EA586B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6A9F6C-F269-8E1B-8BE0-717108F3BB60}"/>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5" name="Footer Placeholder 4">
            <a:extLst>
              <a:ext uri="{FF2B5EF4-FFF2-40B4-BE49-F238E27FC236}">
                <a16:creationId xmlns:a16="http://schemas.microsoft.com/office/drawing/2014/main" id="{55E71065-17FC-3E7D-CB0C-A084EAC07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6B9F05-6089-3C71-D8D3-EE0C9C57D95D}"/>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4088505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976C-158F-EEEA-10B7-5E60767BC2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8A853A-7236-7D3D-3AC3-F51D03A5C6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AF0B97-68CB-DBDA-7DF8-433ED89E8112}"/>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5" name="Footer Placeholder 4">
            <a:extLst>
              <a:ext uri="{FF2B5EF4-FFF2-40B4-BE49-F238E27FC236}">
                <a16:creationId xmlns:a16="http://schemas.microsoft.com/office/drawing/2014/main" id="{3262C002-6228-C10F-C555-4C9C8194FF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388F42-8696-EB61-285B-3EF91E0940C5}"/>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1672440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F39E0-6EE6-EB30-B980-5A8DEC4EDB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D2C356-F213-6634-8949-F88BF8776E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E90D29-A7BE-06B0-B0D9-73B1A47F6D91}"/>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5" name="Footer Placeholder 4">
            <a:extLst>
              <a:ext uri="{FF2B5EF4-FFF2-40B4-BE49-F238E27FC236}">
                <a16:creationId xmlns:a16="http://schemas.microsoft.com/office/drawing/2014/main" id="{5654AF65-951B-69E4-7C89-08D5752FD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96A64F-24F4-16E4-77F5-9727EBC81629}"/>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3928182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CFBFC-8A19-F73C-2873-4E044219FD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5231FC-2074-532A-E579-80440D827C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66C341-C734-A7F8-C592-DE799E890F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AA236A-21A1-6832-5B44-2F6A7340E522}"/>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6" name="Footer Placeholder 5">
            <a:extLst>
              <a:ext uri="{FF2B5EF4-FFF2-40B4-BE49-F238E27FC236}">
                <a16:creationId xmlns:a16="http://schemas.microsoft.com/office/drawing/2014/main" id="{2855DAA6-3FD9-A916-02A6-FA85D0881C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07577E-BB58-CFFC-C08C-B304B9EC9C2E}"/>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3312826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1C8C6-AEE5-080D-104F-39DEA80C63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35AFE2-BB0A-13AE-851F-582F43C311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BAE3D7-6DDD-9EEC-DA5E-D8BC27EF51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48E677-2CDD-4B7B-14D4-01BA1BB275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5ACA16-34A9-0A95-70DE-8BD1EE95B1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05E9EC-AD4B-CBF8-154C-13455376DBEB}"/>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8" name="Footer Placeholder 7">
            <a:extLst>
              <a:ext uri="{FF2B5EF4-FFF2-40B4-BE49-F238E27FC236}">
                <a16:creationId xmlns:a16="http://schemas.microsoft.com/office/drawing/2014/main" id="{30DA0C7E-1E16-51F4-8176-BE668A75FB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CEC8E7-4CAF-95F9-DFE0-055E14DEB23F}"/>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2783721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4A078-B5CD-C19E-1E3B-259C936B44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482BE8-0A84-38D9-FC0A-9F4DD1812014}"/>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4" name="Footer Placeholder 3">
            <a:extLst>
              <a:ext uri="{FF2B5EF4-FFF2-40B4-BE49-F238E27FC236}">
                <a16:creationId xmlns:a16="http://schemas.microsoft.com/office/drawing/2014/main" id="{A6869E86-C4A6-9156-C517-236CFB712A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C1F97B-4490-5B5A-CF86-3A755052E61D}"/>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1030573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4FDFF0-DE23-4ADF-6197-B8C0C26E551E}"/>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3" name="Footer Placeholder 2">
            <a:extLst>
              <a:ext uri="{FF2B5EF4-FFF2-40B4-BE49-F238E27FC236}">
                <a16:creationId xmlns:a16="http://schemas.microsoft.com/office/drawing/2014/main" id="{A847123A-4155-A999-6F37-ABE02C9895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C0ABCE6-3BA9-013B-36E5-20F2094A9820}"/>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2227399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CB159-21D2-5812-AE5D-1FE56C1505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9E8FB-BCF3-9545-4675-8DE1941584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179B54-378B-14B8-D3ED-39749BEE2C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29FE85-7B6F-732A-3611-A1B4168F8F3F}"/>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6" name="Footer Placeholder 5">
            <a:extLst>
              <a:ext uri="{FF2B5EF4-FFF2-40B4-BE49-F238E27FC236}">
                <a16:creationId xmlns:a16="http://schemas.microsoft.com/office/drawing/2014/main" id="{49D320C8-E51A-73AC-3D95-2F5A683FA8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2421E8-E3A6-0D98-E4BB-A6FC2BCAE117}"/>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1335956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DFF83-3D40-1095-4D1F-071D24ADB7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73F879-8392-0C45-B713-361E254004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3655B1-9CF7-4CB8-C550-83716AC53F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53FE37-3C10-0056-BBF5-1A4B8ED1309B}"/>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6" name="Footer Placeholder 5">
            <a:extLst>
              <a:ext uri="{FF2B5EF4-FFF2-40B4-BE49-F238E27FC236}">
                <a16:creationId xmlns:a16="http://schemas.microsoft.com/office/drawing/2014/main" id="{544CBADB-41D8-4810-3BAB-D91C09255C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1DEF2C-FE8C-E27F-2F1F-469A0BBE0194}"/>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1255868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A9E0D-4C0F-462B-769C-6B3ADF3D33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6BC671-E088-6C64-28F0-69784E2B28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BECAD8-DA1B-90F5-34A5-024ED3E34536}"/>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5" name="Footer Placeholder 4">
            <a:extLst>
              <a:ext uri="{FF2B5EF4-FFF2-40B4-BE49-F238E27FC236}">
                <a16:creationId xmlns:a16="http://schemas.microsoft.com/office/drawing/2014/main" id="{8D7E84BF-E534-0E2D-971F-293AF495E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905DFB-8079-277D-773E-14B674DCDED1}"/>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3695448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71FC74-637F-4043-0BE2-EAE207CC06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1BCAE0-A9E9-50FB-49B7-88C9ABAFBB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93969C-C965-9653-A38B-851A6DF33F06}"/>
              </a:ext>
            </a:extLst>
          </p:cNvPr>
          <p:cNvSpPr>
            <a:spLocks noGrp="1"/>
          </p:cNvSpPr>
          <p:nvPr>
            <p:ph type="dt" sz="half" idx="10"/>
          </p:nvPr>
        </p:nvSpPr>
        <p:spPr/>
        <p:txBody>
          <a:bodyPr/>
          <a:lstStyle/>
          <a:p>
            <a:fld id="{60FC64B7-446E-4445-A478-8571ACEA818B}" type="datetimeFigureOut">
              <a:rPr lang="en-US" smtClean="0"/>
              <a:t>10/24/2022</a:t>
            </a:fld>
            <a:endParaRPr lang="en-US"/>
          </a:p>
        </p:txBody>
      </p:sp>
      <p:sp>
        <p:nvSpPr>
          <p:cNvPr id="5" name="Footer Placeholder 4">
            <a:extLst>
              <a:ext uri="{FF2B5EF4-FFF2-40B4-BE49-F238E27FC236}">
                <a16:creationId xmlns:a16="http://schemas.microsoft.com/office/drawing/2014/main" id="{0AA2B6BA-F6AB-D0EC-52F4-5747872E8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901956-9EA1-3BCD-BB9B-1645AD8D3335}"/>
              </a:ext>
            </a:extLst>
          </p:cNvPr>
          <p:cNvSpPr>
            <a:spLocks noGrp="1"/>
          </p:cNvSpPr>
          <p:nvPr>
            <p:ph type="sldNum" sz="quarter" idx="12"/>
          </p:nvPr>
        </p:nvSpPr>
        <p:spPr/>
        <p:txBody>
          <a:bodyPr/>
          <a:lstStyle/>
          <a:p>
            <a:fld id="{FC563287-BFCB-4474-9A52-BB7019C03DF3}" type="slidenum">
              <a:rPr lang="en-US" smtClean="0"/>
              <a:t>‹#›</a:t>
            </a:fld>
            <a:endParaRPr lang="en-US"/>
          </a:p>
        </p:txBody>
      </p:sp>
    </p:spTree>
    <p:extLst>
      <p:ext uri="{BB962C8B-B14F-4D97-AF65-F5344CB8AC3E}">
        <p14:creationId xmlns:p14="http://schemas.microsoft.com/office/powerpoint/2010/main" val="3567742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730BEE-F5B0-188A-5472-D8BEF745D9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886EA1-40DE-CE5D-0B84-0E4F3DD789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950CCB-DF11-8816-8F03-C3C7B25826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FC64B7-446E-4445-A478-8571ACEA818B}" type="datetimeFigureOut">
              <a:rPr lang="en-US" smtClean="0"/>
              <a:t>10/24/2022</a:t>
            </a:fld>
            <a:endParaRPr lang="en-US"/>
          </a:p>
        </p:txBody>
      </p:sp>
      <p:sp>
        <p:nvSpPr>
          <p:cNvPr id="5" name="Footer Placeholder 4">
            <a:extLst>
              <a:ext uri="{FF2B5EF4-FFF2-40B4-BE49-F238E27FC236}">
                <a16:creationId xmlns:a16="http://schemas.microsoft.com/office/drawing/2014/main" id="{632EB6E2-A43F-B53C-F7FC-8DF6376B62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CDCEFD-CE82-90DE-16C7-C8354C1766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63287-BFCB-4474-9A52-BB7019C03DF3}" type="slidenum">
              <a:rPr lang="en-US" smtClean="0"/>
              <a:t>‹#›</a:t>
            </a:fld>
            <a:endParaRPr lang="en-US"/>
          </a:p>
        </p:txBody>
      </p:sp>
    </p:spTree>
    <p:extLst>
      <p:ext uri="{BB962C8B-B14F-4D97-AF65-F5344CB8AC3E}">
        <p14:creationId xmlns:p14="http://schemas.microsoft.com/office/powerpoint/2010/main" val="1440896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1BEF0-3D00-7320-4CBD-367CBDD26BB5}"/>
              </a:ext>
            </a:extLst>
          </p:cNvPr>
          <p:cNvSpPr>
            <a:spLocks noGrp="1"/>
          </p:cNvSpPr>
          <p:nvPr>
            <p:ph type="ctrTitle"/>
          </p:nvPr>
        </p:nvSpPr>
        <p:spPr/>
        <p:txBody>
          <a:bodyPr/>
          <a:lstStyle/>
          <a:p>
            <a:r>
              <a:rPr lang="en-US" dirty="0"/>
              <a:t>Software Validation</a:t>
            </a:r>
          </a:p>
        </p:txBody>
      </p:sp>
      <p:sp>
        <p:nvSpPr>
          <p:cNvPr id="3" name="Subtitle 2">
            <a:extLst>
              <a:ext uri="{FF2B5EF4-FFF2-40B4-BE49-F238E27FC236}">
                <a16:creationId xmlns:a16="http://schemas.microsoft.com/office/drawing/2014/main" id="{70F38A65-9E47-8F18-A613-0C62B328958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11520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C0C42-F2E0-1498-25E5-75D2F73DEC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68BBAE-E086-3D4E-1436-21883E32ED43}"/>
              </a:ext>
            </a:extLst>
          </p:cNvPr>
          <p:cNvSpPr>
            <a:spLocks noGrp="1"/>
          </p:cNvSpPr>
          <p:nvPr>
            <p:ph idx="1"/>
          </p:nvPr>
        </p:nvSpPr>
        <p:spPr/>
        <p:txBody>
          <a:bodyPr/>
          <a:lstStyle/>
          <a:p>
            <a:r>
              <a:rPr lang="en-US" sz="1200" dirty="0"/>
              <a:t>9001</a:t>
            </a:r>
          </a:p>
          <a:p>
            <a:r>
              <a:rPr lang="en-US" sz="1800" dirty="0">
                <a:effectLst/>
                <a:latin typeface="Cambria" panose="02040503050406030204" pitchFamily="18" charset="0"/>
                <a:ea typeface="Cambria" panose="02040503050406030204" pitchFamily="18" charset="0"/>
                <a:cs typeface="Cambria" panose="02040503050406030204" pitchFamily="18" charset="0"/>
              </a:rPr>
              <a:t>Organizational roles, responsibilities and authorities</a:t>
            </a:r>
            <a:endParaRPr lang="en-US" sz="1200" dirty="0">
              <a:ea typeface="Cambria" panose="02040503050406030204" pitchFamily="18" charset="0"/>
            </a:endParaRPr>
          </a:p>
          <a:p>
            <a:r>
              <a:rPr lang="en-US" sz="1200" dirty="0">
                <a:ea typeface="Cambria" panose="02040503050406030204" pitchFamily="18" charset="0"/>
              </a:rPr>
              <a:t>13485</a:t>
            </a:r>
          </a:p>
          <a:p>
            <a:r>
              <a:rPr lang="en-US" sz="1800" dirty="0">
                <a:solidFill>
                  <a:srgbClr val="231F20"/>
                </a:solidFill>
                <a:effectLst/>
                <a:latin typeface="Cambria" panose="02040503050406030204" pitchFamily="18" charset="0"/>
                <a:ea typeface="Cambria" panose="02040503050406030204" pitchFamily="18" charset="0"/>
                <a:cs typeface="Cambria" panose="02040503050406030204" pitchFamily="18" charset="0"/>
              </a:rPr>
              <a:t>documenting procedures </a:t>
            </a:r>
            <a:endParaRPr lang="en-US" sz="1200" dirty="0"/>
          </a:p>
        </p:txBody>
      </p:sp>
    </p:spTree>
    <p:extLst>
      <p:ext uri="{BB962C8B-B14F-4D97-AF65-F5344CB8AC3E}">
        <p14:creationId xmlns:p14="http://schemas.microsoft.com/office/powerpoint/2010/main" val="3810080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67432-BB2B-F565-37D7-E07A8E82BF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D914F1-9B01-B51F-FA30-A33D7B8465B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07683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47AE-A8DA-FC3C-276C-8B8AD4803772}"/>
              </a:ext>
            </a:extLst>
          </p:cNvPr>
          <p:cNvSpPr>
            <a:spLocks noGrp="1"/>
          </p:cNvSpPr>
          <p:nvPr>
            <p:ph type="title"/>
          </p:nvPr>
        </p:nvSpPr>
        <p:spPr/>
        <p:txBody>
          <a:bodyPr/>
          <a:lstStyle/>
          <a:p>
            <a:r>
              <a:rPr lang="en-US" dirty="0"/>
              <a:t>documenting procedures </a:t>
            </a:r>
          </a:p>
        </p:txBody>
      </p:sp>
      <p:sp>
        <p:nvSpPr>
          <p:cNvPr id="3" name="Content Placeholder 2">
            <a:extLst>
              <a:ext uri="{FF2B5EF4-FFF2-40B4-BE49-F238E27FC236}">
                <a16:creationId xmlns:a16="http://schemas.microsoft.com/office/drawing/2014/main" id="{16D8CE0F-5351-9FA5-A0A6-CE7BBDAD7ADF}"/>
              </a:ext>
            </a:extLst>
          </p:cNvPr>
          <p:cNvSpPr>
            <a:spLocks noGrp="1"/>
          </p:cNvSpPr>
          <p:nvPr>
            <p:ph idx="1"/>
          </p:nvPr>
        </p:nvSpPr>
        <p:spPr/>
        <p:txBody>
          <a:bodyPr/>
          <a:lstStyle/>
          <a:p>
            <a:r>
              <a:rPr lang="en-US" dirty="0"/>
              <a:t>Techno-Aide shall document procedures for the validation of the application of computer software used in the quality management system. Such software applications shall be validated prior to initial use and as appropriate, after changes to such software or its application. The specific approach and activities associated with software validation and revalidation shall be proportionate to the risk associated with the use of the software. Records of such activities shall be maintained</a:t>
            </a:r>
          </a:p>
        </p:txBody>
      </p:sp>
    </p:spTree>
    <p:extLst>
      <p:ext uri="{BB962C8B-B14F-4D97-AF65-F5344CB8AC3E}">
        <p14:creationId xmlns:p14="http://schemas.microsoft.com/office/powerpoint/2010/main" val="1063880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097EC-4481-0F4D-08AF-8F62B76300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5D5CED-4E30-9065-B0AA-8F188D421AD3}"/>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61628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B3D43-3296-A80D-B86E-B3E08CD7B8EF}"/>
              </a:ext>
            </a:extLst>
          </p:cNvPr>
          <p:cNvSpPr>
            <a:spLocks noGrp="1"/>
          </p:cNvSpPr>
          <p:nvPr>
            <p:ph type="title"/>
          </p:nvPr>
        </p:nvSpPr>
        <p:spPr/>
        <p:txBody>
          <a:bodyPr/>
          <a:lstStyle/>
          <a:p>
            <a:r>
              <a:rPr lang="en-US" dirty="0"/>
              <a:t>System problems identified by corrective actions</a:t>
            </a:r>
          </a:p>
        </p:txBody>
      </p:sp>
      <p:sp>
        <p:nvSpPr>
          <p:cNvPr id="3" name="Content Placeholder 2">
            <a:extLst>
              <a:ext uri="{FF2B5EF4-FFF2-40B4-BE49-F238E27FC236}">
                <a16:creationId xmlns:a16="http://schemas.microsoft.com/office/drawing/2014/main" id="{94942F24-71C2-BCA4-BB33-CCA4C83D584C}"/>
              </a:ext>
            </a:extLst>
          </p:cNvPr>
          <p:cNvSpPr>
            <a:spLocks noGrp="1"/>
          </p:cNvSpPr>
          <p:nvPr>
            <p:ph idx="1"/>
          </p:nvPr>
        </p:nvSpPr>
        <p:spPr/>
        <p:txBody>
          <a:bodyPr/>
          <a:lstStyle/>
          <a:p>
            <a:r>
              <a:rPr lang="en-US" dirty="0"/>
              <a:t>Any issues found, or identified in the current setup will be added through by the organization and Will be handled by the management staff and dealt with When They Have been notified </a:t>
            </a:r>
          </a:p>
          <a:p>
            <a:endParaRPr lang="en-US" dirty="0"/>
          </a:p>
        </p:txBody>
      </p:sp>
    </p:spTree>
    <p:extLst>
      <p:ext uri="{BB962C8B-B14F-4D97-AF65-F5344CB8AC3E}">
        <p14:creationId xmlns:p14="http://schemas.microsoft.com/office/powerpoint/2010/main" val="3953080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FBEA7-DC32-0FF8-6ADA-E04AA0C226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ED9A56-9CF5-A0FA-B22A-A2119325E59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49540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4B15C-90E5-9A73-E67B-559EF0C38B15}"/>
              </a:ext>
            </a:extLst>
          </p:cNvPr>
          <p:cNvSpPr>
            <a:spLocks noGrp="1"/>
          </p:cNvSpPr>
          <p:nvPr>
            <p:ph type="title"/>
          </p:nvPr>
        </p:nvSpPr>
        <p:spPr/>
        <p:txBody>
          <a:bodyPr/>
          <a:lstStyle/>
          <a:p>
            <a:r>
              <a:rPr lang="en-US" dirty="0"/>
              <a:t>assigning the responsibility</a:t>
            </a:r>
          </a:p>
        </p:txBody>
      </p:sp>
      <p:sp>
        <p:nvSpPr>
          <p:cNvPr id="3" name="Content Placeholder 2">
            <a:extLst>
              <a:ext uri="{FF2B5EF4-FFF2-40B4-BE49-F238E27FC236}">
                <a16:creationId xmlns:a16="http://schemas.microsoft.com/office/drawing/2014/main" id="{2A1AD5B2-CDB0-D590-75AE-A849057B192E}"/>
              </a:ext>
            </a:extLst>
          </p:cNvPr>
          <p:cNvSpPr>
            <a:spLocks noGrp="1"/>
          </p:cNvSpPr>
          <p:nvPr>
            <p:ph idx="1"/>
          </p:nvPr>
        </p:nvSpPr>
        <p:spPr/>
        <p:txBody>
          <a:bodyPr>
            <a:normAutofit fontScale="92500"/>
          </a:bodyPr>
          <a:lstStyle/>
          <a:p>
            <a:r>
              <a:rPr lang="en-US" dirty="0"/>
              <a:t>Top management shall assign the responsibility and authority for:</a:t>
            </a:r>
          </a:p>
          <a:p>
            <a:r>
              <a:rPr lang="en-US" dirty="0"/>
              <a:t>ensuring that the quality management system conforms to the requirements of this International Standard.</a:t>
            </a:r>
          </a:p>
          <a:p>
            <a:r>
              <a:rPr lang="en-US" dirty="0"/>
              <a:t>ensuring that the processes are delivering their intended outputs.</a:t>
            </a:r>
          </a:p>
          <a:p>
            <a:r>
              <a:rPr lang="en-US" dirty="0"/>
              <a:t>reporting on the performance of the quality management system and on opportunities for improvement in particular to top management.</a:t>
            </a:r>
          </a:p>
          <a:p>
            <a:r>
              <a:rPr lang="en-US" dirty="0"/>
              <a:t>ensuring the promotion of customer focus throughout the organization.</a:t>
            </a:r>
          </a:p>
          <a:p>
            <a:r>
              <a:rPr lang="en-US" dirty="0"/>
              <a:t>ensuring that the integrity of the quality management system is maintained when changes to the quality management system are planned and implemented.</a:t>
            </a:r>
          </a:p>
        </p:txBody>
      </p:sp>
    </p:spTree>
    <p:extLst>
      <p:ext uri="{BB962C8B-B14F-4D97-AF65-F5344CB8AC3E}">
        <p14:creationId xmlns:p14="http://schemas.microsoft.com/office/powerpoint/2010/main" val="3064749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31919-82C5-D622-2DB3-74980773CC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732AD7-A089-0D53-6413-959DC39458A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98557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0887-852B-0879-9049-C5DDCCA70ECF}"/>
              </a:ext>
            </a:extLst>
          </p:cNvPr>
          <p:cNvSpPr>
            <a:spLocks noGrp="1"/>
          </p:cNvSpPr>
          <p:nvPr>
            <p:ph type="title"/>
          </p:nvPr>
        </p:nvSpPr>
        <p:spPr/>
        <p:txBody>
          <a:bodyPr/>
          <a:lstStyle/>
          <a:p>
            <a:r>
              <a:rPr lang="en-US" dirty="0"/>
              <a:t>Conformity </a:t>
            </a:r>
          </a:p>
        </p:txBody>
      </p:sp>
      <p:sp>
        <p:nvSpPr>
          <p:cNvPr id="3" name="Content Placeholder 2">
            <a:extLst>
              <a:ext uri="{FF2B5EF4-FFF2-40B4-BE49-F238E27FC236}">
                <a16:creationId xmlns:a16="http://schemas.microsoft.com/office/drawing/2014/main" id="{A8407D01-B5FE-F10E-7648-99F58551344F}"/>
              </a:ext>
            </a:extLst>
          </p:cNvPr>
          <p:cNvSpPr>
            <a:spLocks noGrp="1"/>
          </p:cNvSpPr>
          <p:nvPr>
            <p:ph idx="1"/>
          </p:nvPr>
        </p:nvSpPr>
        <p:spPr/>
        <p:txBody>
          <a:bodyPr/>
          <a:lstStyle/>
          <a:p>
            <a:r>
              <a:rPr lang="en-US" dirty="0"/>
              <a:t>2.1.	ensuring that the quality management system conforms to the requirements of this International Standard.</a:t>
            </a:r>
          </a:p>
          <a:p>
            <a:endParaRPr lang="en-US" dirty="0"/>
          </a:p>
        </p:txBody>
      </p:sp>
    </p:spTree>
    <p:extLst>
      <p:ext uri="{BB962C8B-B14F-4D97-AF65-F5344CB8AC3E}">
        <p14:creationId xmlns:p14="http://schemas.microsoft.com/office/powerpoint/2010/main" val="3103657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C7A6A-7983-A372-E440-623E153444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85E9F8-D643-36A9-CED7-E663DBDF8A7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87403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618A-EFE5-4390-13C9-A2D0F26D377D}"/>
              </a:ext>
            </a:extLst>
          </p:cNvPr>
          <p:cNvSpPr>
            <a:spLocks noGrp="1"/>
          </p:cNvSpPr>
          <p:nvPr>
            <p:ph type="title"/>
          </p:nvPr>
        </p:nvSpPr>
        <p:spPr/>
        <p:txBody>
          <a:bodyPr/>
          <a:lstStyle/>
          <a:p>
            <a:r>
              <a:rPr lang="en-US" dirty="0"/>
              <a:t>intended outputs</a:t>
            </a:r>
          </a:p>
        </p:txBody>
      </p:sp>
      <p:sp>
        <p:nvSpPr>
          <p:cNvPr id="3" name="Content Placeholder 2">
            <a:extLst>
              <a:ext uri="{FF2B5EF4-FFF2-40B4-BE49-F238E27FC236}">
                <a16:creationId xmlns:a16="http://schemas.microsoft.com/office/drawing/2014/main" id="{4B4FCAAD-B61E-38A6-74D4-1383D79BF0F5}"/>
              </a:ext>
            </a:extLst>
          </p:cNvPr>
          <p:cNvSpPr>
            <a:spLocks noGrp="1"/>
          </p:cNvSpPr>
          <p:nvPr>
            <p:ph idx="1"/>
          </p:nvPr>
        </p:nvSpPr>
        <p:spPr/>
        <p:txBody>
          <a:bodyPr/>
          <a:lstStyle/>
          <a:p>
            <a:r>
              <a:rPr lang="en-US" dirty="0"/>
              <a:t>ensuring that the processes are delivering their intended outputs.</a:t>
            </a:r>
          </a:p>
          <a:p>
            <a:endParaRPr lang="en-US" dirty="0"/>
          </a:p>
        </p:txBody>
      </p:sp>
    </p:spTree>
    <p:extLst>
      <p:ext uri="{BB962C8B-B14F-4D97-AF65-F5344CB8AC3E}">
        <p14:creationId xmlns:p14="http://schemas.microsoft.com/office/powerpoint/2010/main" val="537502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B7CB4-89A8-1578-B86C-6D499C2BCB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05F02F-8648-C4DE-8A07-2D0575BD94E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5406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2993B-5242-2C08-E5A6-5297A8947357}"/>
              </a:ext>
            </a:extLst>
          </p:cNvPr>
          <p:cNvSpPr>
            <a:spLocks noGrp="1"/>
          </p:cNvSpPr>
          <p:nvPr>
            <p:ph type="title"/>
          </p:nvPr>
        </p:nvSpPr>
        <p:spPr/>
        <p:txBody>
          <a:bodyPr/>
          <a:lstStyle/>
          <a:p>
            <a:r>
              <a:rPr lang="en-US" dirty="0"/>
              <a:t>performance of the quality management system</a:t>
            </a:r>
          </a:p>
        </p:txBody>
      </p:sp>
      <p:sp>
        <p:nvSpPr>
          <p:cNvPr id="3" name="Content Placeholder 2">
            <a:extLst>
              <a:ext uri="{FF2B5EF4-FFF2-40B4-BE49-F238E27FC236}">
                <a16:creationId xmlns:a16="http://schemas.microsoft.com/office/drawing/2014/main" id="{205772A1-FF60-16AE-86CB-57CD6F1FA1E6}"/>
              </a:ext>
            </a:extLst>
          </p:cNvPr>
          <p:cNvSpPr>
            <a:spLocks noGrp="1"/>
          </p:cNvSpPr>
          <p:nvPr>
            <p:ph idx="1"/>
          </p:nvPr>
        </p:nvSpPr>
        <p:spPr/>
        <p:txBody>
          <a:bodyPr/>
          <a:lstStyle/>
          <a:p>
            <a:r>
              <a:rPr lang="en-US" dirty="0"/>
              <a:t>2.3.	reporting on the performance of the quality management system and on opportunities for improvement in particular to top management.</a:t>
            </a:r>
          </a:p>
          <a:p>
            <a:endParaRPr lang="en-US" dirty="0"/>
          </a:p>
        </p:txBody>
      </p:sp>
    </p:spTree>
    <p:extLst>
      <p:ext uri="{BB962C8B-B14F-4D97-AF65-F5344CB8AC3E}">
        <p14:creationId xmlns:p14="http://schemas.microsoft.com/office/powerpoint/2010/main" val="1702232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F9966-49B7-F2CF-15FC-76095FFDE0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E5CB69-CF5B-9B79-779E-F1CB7FBB6F3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76088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E47EB-DBD4-6132-E390-9743334EE543}"/>
              </a:ext>
            </a:extLst>
          </p:cNvPr>
          <p:cNvSpPr>
            <a:spLocks noGrp="1"/>
          </p:cNvSpPr>
          <p:nvPr>
            <p:ph type="title"/>
          </p:nvPr>
        </p:nvSpPr>
        <p:spPr/>
        <p:txBody>
          <a:bodyPr/>
          <a:lstStyle/>
          <a:p>
            <a:r>
              <a:rPr lang="en-US" dirty="0"/>
              <a:t>customer focus</a:t>
            </a:r>
          </a:p>
        </p:txBody>
      </p:sp>
      <p:sp>
        <p:nvSpPr>
          <p:cNvPr id="3" name="Content Placeholder 2">
            <a:extLst>
              <a:ext uri="{FF2B5EF4-FFF2-40B4-BE49-F238E27FC236}">
                <a16:creationId xmlns:a16="http://schemas.microsoft.com/office/drawing/2014/main" id="{605FDC73-80E7-73C6-D222-A1D595EFF7D2}"/>
              </a:ext>
            </a:extLst>
          </p:cNvPr>
          <p:cNvSpPr>
            <a:spLocks noGrp="1"/>
          </p:cNvSpPr>
          <p:nvPr>
            <p:ph idx="1"/>
          </p:nvPr>
        </p:nvSpPr>
        <p:spPr/>
        <p:txBody>
          <a:bodyPr/>
          <a:lstStyle/>
          <a:p>
            <a:r>
              <a:rPr lang="en-US" dirty="0"/>
              <a:t>2.4.	ensuring the promotion of customer focus throughout the organization.</a:t>
            </a:r>
          </a:p>
          <a:p>
            <a:endParaRPr lang="en-US" dirty="0"/>
          </a:p>
        </p:txBody>
      </p:sp>
    </p:spTree>
    <p:extLst>
      <p:ext uri="{BB962C8B-B14F-4D97-AF65-F5344CB8AC3E}">
        <p14:creationId xmlns:p14="http://schemas.microsoft.com/office/powerpoint/2010/main" val="270709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B3B83-C72D-A8B8-BCE8-794F622018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D60D30-5801-289D-5817-A676B374232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6172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CC95-F1CF-9F55-085A-5C86466FFE52}"/>
              </a:ext>
            </a:extLst>
          </p:cNvPr>
          <p:cNvSpPr>
            <a:spLocks noGrp="1"/>
          </p:cNvSpPr>
          <p:nvPr>
            <p:ph type="title"/>
          </p:nvPr>
        </p:nvSpPr>
        <p:spPr/>
        <p:txBody>
          <a:bodyPr/>
          <a:lstStyle/>
          <a:p>
            <a:r>
              <a:rPr lang="en-US" dirty="0"/>
              <a:t>integrity of the quality management system</a:t>
            </a:r>
          </a:p>
        </p:txBody>
      </p:sp>
      <p:sp>
        <p:nvSpPr>
          <p:cNvPr id="3" name="Content Placeholder 2">
            <a:extLst>
              <a:ext uri="{FF2B5EF4-FFF2-40B4-BE49-F238E27FC236}">
                <a16:creationId xmlns:a16="http://schemas.microsoft.com/office/drawing/2014/main" id="{FBE3AD08-BB83-33CC-9BFF-9905B6327250}"/>
              </a:ext>
            </a:extLst>
          </p:cNvPr>
          <p:cNvSpPr>
            <a:spLocks noGrp="1"/>
          </p:cNvSpPr>
          <p:nvPr>
            <p:ph idx="1"/>
          </p:nvPr>
        </p:nvSpPr>
        <p:spPr/>
        <p:txBody>
          <a:bodyPr/>
          <a:lstStyle/>
          <a:p>
            <a:r>
              <a:rPr lang="en-US" dirty="0"/>
              <a:t>2.5.	ensuring that the integrity of the quality management system is maintained when changes to the quality management system are planned and implemented.</a:t>
            </a:r>
          </a:p>
        </p:txBody>
      </p:sp>
    </p:spTree>
    <p:extLst>
      <p:ext uri="{BB962C8B-B14F-4D97-AF65-F5344CB8AC3E}">
        <p14:creationId xmlns:p14="http://schemas.microsoft.com/office/powerpoint/2010/main" val="230086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9F8A-0930-AE57-95B0-A875AF1AA1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7CE37D-ABBD-9F26-9C61-11FAD8AD715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97251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4D4C-D899-A771-5F34-EB9F0DFE7B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5A67A9-08CD-B17D-6A97-3E5DC9CB717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75647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10A9C-D419-E121-83ED-A8B5409020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22F42E-80A0-EF53-F717-728507E6D35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59280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417</Words>
  <Application>Microsoft Office PowerPoint</Application>
  <PresentationFormat>Widescreen</PresentationFormat>
  <Paragraphs>33</Paragraphs>
  <Slides>21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Cambria</vt:lpstr>
      <vt:lpstr>Office Theme</vt:lpstr>
      <vt:lpstr>Software Validation</vt:lpstr>
      <vt:lpstr>PowerPoint Presentation</vt:lpstr>
      <vt:lpstr>PowerPoint Presentation</vt:lpstr>
      <vt:lpstr>documenting procedures </vt:lpstr>
      <vt:lpstr>PowerPoint Presentation</vt:lpstr>
      <vt:lpstr>System problems identified by corrective actions</vt:lpstr>
      <vt:lpstr>PowerPoint Presentation</vt:lpstr>
      <vt:lpstr>assigning the responsibility</vt:lpstr>
      <vt:lpstr>PowerPoint Presentation</vt:lpstr>
      <vt:lpstr>Conformity </vt:lpstr>
      <vt:lpstr>PowerPoint Presentation</vt:lpstr>
      <vt:lpstr>intended outputs</vt:lpstr>
      <vt:lpstr>PowerPoint Presentation</vt:lpstr>
      <vt:lpstr>performance of the quality management system</vt:lpstr>
      <vt:lpstr>PowerPoint Presentation</vt:lpstr>
      <vt:lpstr>customer focus</vt:lpstr>
      <vt:lpstr>PowerPoint Presentation</vt:lpstr>
      <vt:lpstr>integrity of the quality management system</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dc:title>
  <dc:creator>Brian Olea</dc:creator>
  <cp:lastModifiedBy>Brian Olea</cp:lastModifiedBy>
  <cp:revision>3</cp:revision>
  <dcterms:created xsi:type="dcterms:W3CDTF">2022-10-25T00:45:46Z</dcterms:created>
  <dcterms:modified xsi:type="dcterms:W3CDTF">2022-10-25T02:31:16Z</dcterms:modified>
</cp:coreProperties>
</file>