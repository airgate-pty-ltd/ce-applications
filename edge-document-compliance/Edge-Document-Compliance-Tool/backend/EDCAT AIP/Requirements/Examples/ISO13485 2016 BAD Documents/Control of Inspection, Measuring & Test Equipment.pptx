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81" r:id="rId5"/>
    <p:sldId id="259" r:id="rId6"/>
    <p:sldId id="280" r:id="rId7"/>
    <p:sldId id="260" r:id="rId8"/>
    <p:sldId id="279" r:id="rId9"/>
    <p:sldId id="261" r:id="rId10"/>
    <p:sldId id="278" r:id="rId11"/>
    <p:sldId id="262" r:id="rId12"/>
    <p:sldId id="277" r:id="rId13"/>
    <p:sldId id="263" r:id="rId14"/>
    <p:sldId id="276" r:id="rId15"/>
    <p:sldId id="275" r:id="rId16"/>
    <p:sldId id="264" r:id="rId17"/>
    <p:sldId id="274" r:id="rId18"/>
    <p:sldId id="265" r:id="rId19"/>
    <p:sldId id="273" r:id="rId20"/>
    <p:sldId id="266" r:id="rId21"/>
    <p:sldId id="272" r:id="rId22"/>
    <p:sldId id="267" r:id="rId23"/>
    <p:sldId id="271" r:id="rId24"/>
    <p:sldId id="268" r:id="rId25"/>
    <p:sldId id="269" r:id="rId26"/>
    <p:sldId id="27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76" d="100"/>
          <a:sy n="76" d="100"/>
        </p:scale>
        <p:origin x="72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EF518-7931-1F2E-5333-BD16FBE72D4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37E0407-9297-E695-FE31-2CF2AD80C7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C2A1F62-3A13-C750-39AA-FC33AB6CF110}"/>
              </a:ext>
            </a:extLst>
          </p:cNvPr>
          <p:cNvSpPr>
            <a:spLocks noGrp="1"/>
          </p:cNvSpPr>
          <p:nvPr>
            <p:ph type="dt" sz="half" idx="10"/>
          </p:nvPr>
        </p:nvSpPr>
        <p:spPr/>
        <p:txBody>
          <a:bodyPr/>
          <a:lstStyle/>
          <a:p>
            <a:fld id="{E5145228-5776-40F6-BECA-EFD1BCEEDFA5}" type="datetimeFigureOut">
              <a:rPr lang="en-US" smtClean="0"/>
              <a:t>10/24/2022</a:t>
            </a:fld>
            <a:endParaRPr lang="en-US"/>
          </a:p>
        </p:txBody>
      </p:sp>
      <p:sp>
        <p:nvSpPr>
          <p:cNvPr id="5" name="Footer Placeholder 4">
            <a:extLst>
              <a:ext uri="{FF2B5EF4-FFF2-40B4-BE49-F238E27FC236}">
                <a16:creationId xmlns:a16="http://schemas.microsoft.com/office/drawing/2014/main" id="{EA3019E9-7069-B879-9F01-4186318BB6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B6E925-B592-41B7-E0CE-0803AB0BC53F}"/>
              </a:ext>
            </a:extLst>
          </p:cNvPr>
          <p:cNvSpPr>
            <a:spLocks noGrp="1"/>
          </p:cNvSpPr>
          <p:nvPr>
            <p:ph type="sldNum" sz="quarter" idx="12"/>
          </p:nvPr>
        </p:nvSpPr>
        <p:spPr/>
        <p:txBody>
          <a:bodyPr/>
          <a:lstStyle/>
          <a:p>
            <a:fld id="{7217760A-308B-4E9D-9750-0C333F444CED}" type="slidenum">
              <a:rPr lang="en-US" smtClean="0"/>
              <a:t>‹#›</a:t>
            </a:fld>
            <a:endParaRPr lang="en-US"/>
          </a:p>
        </p:txBody>
      </p:sp>
    </p:spTree>
    <p:extLst>
      <p:ext uri="{BB962C8B-B14F-4D97-AF65-F5344CB8AC3E}">
        <p14:creationId xmlns:p14="http://schemas.microsoft.com/office/powerpoint/2010/main" val="15591682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19556-217C-E87E-5223-CF5DF6CDEC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CEF605A-38C1-F3BC-9601-8CF24E72F73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1EB630-8F6E-8F10-095E-3C43631E3860}"/>
              </a:ext>
            </a:extLst>
          </p:cNvPr>
          <p:cNvSpPr>
            <a:spLocks noGrp="1"/>
          </p:cNvSpPr>
          <p:nvPr>
            <p:ph type="dt" sz="half" idx="10"/>
          </p:nvPr>
        </p:nvSpPr>
        <p:spPr/>
        <p:txBody>
          <a:bodyPr/>
          <a:lstStyle/>
          <a:p>
            <a:fld id="{E5145228-5776-40F6-BECA-EFD1BCEEDFA5}" type="datetimeFigureOut">
              <a:rPr lang="en-US" smtClean="0"/>
              <a:t>10/24/2022</a:t>
            </a:fld>
            <a:endParaRPr lang="en-US"/>
          </a:p>
        </p:txBody>
      </p:sp>
      <p:sp>
        <p:nvSpPr>
          <p:cNvPr id="5" name="Footer Placeholder 4">
            <a:extLst>
              <a:ext uri="{FF2B5EF4-FFF2-40B4-BE49-F238E27FC236}">
                <a16:creationId xmlns:a16="http://schemas.microsoft.com/office/drawing/2014/main" id="{560B701D-B279-51C5-4F9E-9F5910029A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E8320C-90B0-AD70-2406-D3D3487BAE70}"/>
              </a:ext>
            </a:extLst>
          </p:cNvPr>
          <p:cNvSpPr>
            <a:spLocks noGrp="1"/>
          </p:cNvSpPr>
          <p:nvPr>
            <p:ph type="sldNum" sz="quarter" idx="12"/>
          </p:nvPr>
        </p:nvSpPr>
        <p:spPr/>
        <p:txBody>
          <a:bodyPr/>
          <a:lstStyle/>
          <a:p>
            <a:fld id="{7217760A-308B-4E9D-9750-0C333F444CED}" type="slidenum">
              <a:rPr lang="en-US" smtClean="0"/>
              <a:t>‹#›</a:t>
            </a:fld>
            <a:endParaRPr lang="en-US"/>
          </a:p>
        </p:txBody>
      </p:sp>
    </p:spTree>
    <p:extLst>
      <p:ext uri="{BB962C8B-B14F-4D97-AF65-F5344CB8AC3E}">
        <p14:creationId xmlns:p14="http://schemas.microsoft.com/office/powerpoint/2010/main" val="9173478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538E3-8631-7745-D7FD-8B2475B30E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9603AF8-2706-561C-F796-915DCDC46D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4A3720-F8E0-B00E-C458-59465A691CDF}"/>
              </a:ext>
            </a:extLst>
          </p:cNvPr>
          <p:cNvSpPr>
            <a:spLocks noGrp="1"/>
          </p:cNvSpPr>
          <p:nvPr>
            <p:ph type="dt" sz="half" idx="10"/>
          </p:nvPr>
        </p:nvSpPr>
        <p:spPr/>
        <p:txBody>
          <a:bodyPr/>
          <a:lstStyle/>
          <a:p>
            <a:fld id="{E5145228-5776-40F6-BECA-EFD1BCEEDFA5}" type="datetimeFigureOut">
              <a:rPr lang="en-US" smtClean="0"/>
              <a:t>10/24/2022</a:t>
            </a:fld>
            <a:endParaRPr lang="en-US"/>
          </a:p>
        </p:txBody>
      </p:sp>
      <p:sp>
        <p:nvSpPr>
          <p:cNvPr id="5" name="Footer Placeholder 4">
            <a:extLst>
              <a:ext uri="{FF2B5EF4-FFF2-40B4-BE49-F238E27FC236}">
                <a16:creationId xmlns:a16="http://schemas.microsoft.com/office/drawing/2014/main" id="{81FC2C7D-E3BA-59E8-5591-D7ED358AE6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12D2A2-06E0-4531-7938-258BEDA000C0}"/>
              </a:ext>
            </a:extLst>
          </p:cNvPr>
          <p:cNvSpPr>
            <a:spLocks noGrp="1"/>
          </p:cNvSpPr>
          <p:nvPr>
            <p:ph type="sldNum" sz="quarter" idx="12"/>
          </p:nvPr>
        </p:nvSpPr>
        <p:spPr/>
        <p:txBody>
          <a:bodyPr/>
          <a:lstStyle/>
          <a:p>
            <a:fld id="{7217760A-308B-4E9D-9750-0C333F444CED}" type="slidenum">
              <a:rPr lang="en-US" smtClean="0"/>
              <a:t>‹#›</a:t>
            </a:fld>
            <a:endParaRPr lang="en-US"/>
          </a:p>
        </p:txBody>
      </p:sp>
    </p:spTree>
    <p:extLst>
      <p:ext uri="{BB962C8B-B14F-4D97-AF65-F5344CB8AC3E}">
        <p14:creationId xmlns:p14="http://schemas.microsoft.com/office/powerpoint/2010/main" val="1300600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7300E-AAAA-1448-C4D2-D352FA651B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EA521A-07A6-B0E3-3A2A-B99D6B11E8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996094B-EB77-79DB-EE0F-AA7F850C2FE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741626-AC47-C2BC-B32B-56EDCA4FCD28}"/>
              </a:ext>
            </a:extLst>
          </p:cNvPr>
          <p:cNvSpPr>
            <a:spLocks noGrp="1"/>
          </p:cNvSpPr>
          <p:nvPr>
            <p:ph type="dt" sz="half" idx="10"/>
          </p:nvPr>
        </p:nvSpPr>
        <p:spPr/>
        <p:txBody>
          <a:bodyPr/>
          <a:lstStyle/>
          <a:p>
            <a:fld id="{E5145228-5776-40F6-BECA-EFD1BCEEDFA5}" type="datetimeFigureOut">
              <a:rPr lang="en-US" smtClean="0"/>
              <a:t>10/24/2022</a:t>
            </a:fld>
            <a:endParaRPr lang="en-US"/>
          </a:p>
        </p:txBody>
      </p:sp>
      <p:sp>
        <p:nvSpPr>
          <p:cNvPr id="6" name="Footer Placeholder 5">
            <a:extLst>
              <a:ext uri="{FF2B5EF4-FFF2-40B4-BE49-F238E27FC236}">
                <a16:creationId xmlns:a16="http://schemas.microsoft.com/office/drawing/2014/main" id="{81BF5A31-65ED-9F72-B0CA-00D9E8554B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9D2D44-F341-DE07-506B-DACE4FDAFF06}"/>
              </a:ext>
            </a:extLst>
          </p:cNvPr>
          <p:cNvSpPr>
            <a:spLocks noGrp="1"/>
          </p:cNvSpPr>
          <p:nvPr>
            <p:ph type="sldNum" sz="quarter" idx="12"/>
          </p:nvPr>
        </p:nvSpPr>
        <p:spPr/>
        <p:txBody>
          <a:bodyPr/>
          <a:lstStyle/>
          <a:p>
            <a:fld id="{7217760A-308B-4E9D-9750-0C333F444CED}" type="slidenum">
              <a:rPr lang="en-US" smtClean="0"/>
              <a:t>‹#›</a:t>
            </a:fld>
            <a:endParaRPr lang="en-US"/>
          </a:p>
        </p:txBody>
      </p:sp>
    </p:spTree>
    <p:extLst>
      <p:ext uri="{BB962C8B-B14F-4D97-AF65-F5344CB8AC3E}">
        <p14:creationId xmlns:p14="http://schemas.microsoft.com/office/powerpoint/2010/main" val="116375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0DC81-B05B-ACFD-DD79-4DB703D4A64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331C11A-974D-0DF3-D7D1-10FBE345CD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42EFC4-D288-16C6-2BEB-A5756A7F89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DC905E-261A-AE0E-C1E3-748E655121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95A284-9E85-FF85-CA16-214B115EDE3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6A2D5A-8943-B022-0377-55DC578371D2}"/>
              </a:ext>
            </a:extLst>
          </p:cNvPr>
          <p:cNvSpPr>
            <a:spLocks noGrp="1"/>
          </p:cNvSpPr>
          <p:nvPr>
            <p:ph type="dt" sz="half" idx="10"/>
          </p:nvPr>
        </p:nvSpPr>
        <p:spPr/>
        <p:txBody>
          <a:bodyPr/>
          <a:lstStyle/>
          <a:p>
            <a:fld id="{E5145228-5776-40F6-BECA-EFD1BCEEDFA5}" type="datetimeFigureOut">
              <a:rPr lang="en-US" smtClean="0"/>
              <a:t>10/24/2022</a:t>
            </a:fld>
            <a:endParaRPr lang="en-US"/>
          </a:p>
        </p:txBody>
      </p:sp>
      <p:sp>
        <p:nvSpPr>
          <p:cNvPr id="8" name="Footer Placeholder 7">
            <a:extLst>
              <a:ext uri="{FF2B5EF4-FFF2-40B4-BE49-F238E27FC236}">
                <a16:creationId xmlns:a16="http://schemas.microsoft.com/office/drawing/2014/main" id="{685B4231-299A-5A5D-1D5E-A6D143ED0BB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0E53452-CA31-F304-21FF-1B3D7880B69A}"/>
              </a:ext>
            </a:extLst>
          </p:cNvPr>
          <p:cNvSpPr>
            <a:spLocks noGrp="1"/>
          </p:cNvSpPr>
          <p:nvPr>
            <p:ph type="sldNum" sz="quarter" idx="12"/>
          </p:nvPr>
        </p:nvSpPr>
        <p:spPr/>
        <p:txBody>
          <a:bodyPr/>
          <a:lstStyle/>
          <a:p>
            <a:fld id="{7217760A-308B-4E9D-9750-0C333F444CED}" type="slidenum">
              <a:rPr lang="en-US" smtClean="0"/>
              <a:t>‹#›</a:t>
            </a:fld>
            <a:endParaRPr lang="en-US"/>
          </a:p>
        </p:txBody>
      </p:sp>
    </p:spTree>
    <p:extLst>
      <p:ext uri="{BB962C8B-B14F-4D97-AF65-F5344CB8AC3E}">
        <p14:creationId xmlns:p14="http://schemas.microsoft.com/office/powerpoint/2010/main" val="647469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D785C-6E7C-B266-8E72-77C54BFED79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A63F31-AC19-AF5C-85A8-30A310CD68A4}"/>
              </a:ext>
            </a:extLst>
          </p:cNvPr>
          <p:cNvSpPr>
            <a:spLocks noGrp="1"/>
          </p:cNvSpPr>
          <p:nvPr>
            <p:ph type="dt" sz="half" idx="10"/>
          </p:nvPr>
        </p:nvSpPr>
        <p:spPr/>
        <p:txBody>
          <a:bodyPr/>
          <a:lstStyle/>
          <a:p>
            <a:fld id="{E5145228-5776-40F6-BECA-EFD1BCEEDFA5}" type="datetimeFigureOut">
              <a:rPr lang="en-US" smtClean="0"/>
              <a:t>10/24/2022</a:t>
            </a:fld>
            <a:endParaRPr lang="en-US"/>
          </a:p>
        </p:txBody>
      </p:sp>
      <p:sp>
        <p:nvSpPr>
          <p:cNvPr id="4" name="Footer Placeholder 3">
            <a:extLst>
              <a:ext uri="{FF2B5EF4-FFF2-40B4-BE49-F238E27FC236}">
                <a16:creationId xmlns:a16="http://schemas.microsoft.com/office/drawing/2014/main" id="{A9F1F627-3A9A-40D6-D336-9F35A91EE26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A3A21D8-B0B7-F53E-A781-3E5AC457E21B}"/>
              </a:ext>
            </a:extLst>
          </p:cNvPr>
          <p:cNvSpPr>
            <a:spLocks noGrp="1"/>
          </p:cNvSpPr>
          <p:nvPr>
            <p:ph type="sldNum" sz="quarter" idx="12"/>
          </p:nvPr>
        </p:nvSpPr>
        <p:spPr/>
        <p:txBody>
          <a:bodyPr/>
          <a:lstStyle/>
          <a:p>
            <a:fld id="{7217760A-308B-4E9D-9750-0C333F444CED}" type="slidenum">
              <a:rPr lang="en-US" smtClean="0"/>
              <a:t>‹#›</a:t>
            </a:fld>
            <a:endParaRPr lang="en-US"/>
          </a:p>
        </p:txBody>
      </p:sp>
    </p:spTree>
    <p:extLst>
      <p:ext uri="{BB962C8B-B14F-4D97-AF65-F5344CB8AC3E}">
        <p14:creationId xmlns:p14="http://schemas.microsoft.com/office/powerpoint/2010/main" val="38632418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A8150AA-4AB3-8F5A-FAF2-3462F834A180}"/>
              </a:ext>
            </a:extLst>
          </p:cNvPr>
          <p:cNvSpPr>
            <a:spLocks noGrp="1"/>
          </p:cNvSpPr>
          <p:nvPr>
            <p:ph type="dt" sz="half" idx="10"/>
          </p:nvPr>
        </p:nvSpPr>
        <p:spPr/>
        <p:txBody>
          <a:bodyPr/>
          <a:lstStyle/>
          <a:p>
            <a:fld id="{E5145228-5776-40F6-BECA-EFD1BCEEDFA5}" type="datetimeFigureOut">
              <a:rPr lang="en-US" smtClean="0"/>
              <a:t>10/24/2022</a:t>
            </a:fld>
            <a:endParaRPr lang="en-US"/>
          </a:p>
        </p:txBody>
      </p:sp>
      <p:sp>
        <p:nvSpPr>
          <p:cNvPr id="3" name="Footer Placeholder 2">
            <a:extLst>
              <a:ext uri="{FF2B5EF4-FFF2-40B4-BE49-F238E27FC236}">
                <a16:creationId xmlns:a16="http://schemas.microsoft.com/office/drawing/2014/main" id="{BF4CA997-3E38-B361-E602-B0E0DC64CAF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2F4D860-C120-AE7B-7C83-59E3FA4A8926}"/>
              </a:ext>
            </a:extLst>
          </p:cNvPr>
          <p:cNvSpPr>
            <a:spLocks noGrp="1"/>
          </p:cNvSpPr>
          <p:nvPr>
            <p:ph type="sldNum" sz="quarter" idx="12"/>
          </p:nvPr>
        </p:nvSpPr>
        <p:spPr/>
        <p:txBody>
          <a:bodyPr/>
          <a:lstStyle/>
          <a:p>
            <a:fld id="{7217760A-308B-4E9D-9750-0C333F444CED}" type="slidenum">
              <a:rPr lang="en-US" smtClean="0"/>
              <a:t>‹#›</a:t>
            </a:fld>
            <a:endParaRPr lang="en-US"/>
          </a:p>
        </p:txBody>
      </p:sp>
    </p:spTree>
    <p:extLst>
      <p:ext uri="{BB962C8B-B14F-4D97-AF65-F5344CB8AC3E}">
        <p14:creationId xmlns:p14="http://schemas.microsoft.com/office/powerpoint/2010/main" val="3818495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B196F-772A-A329-15EA-385D3B06A8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255848D-7FF8-BE13-0609-58FEEEDAD9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E805D8F-92D5-0390-1D7F-50AEE74104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36150E-53B9-A91E-146E-0285CD8CF2B2}"/>
              </a:ext>
            </a:extLst>
          </p:cNvPr>
          <p:cNvSpPr>
            <a:spLocks noGrp="1"/>
          </p:cNvSpPr>
          <p:nvPr>
            <p:ph type="dt" sz="half" idx="10"/>
          </p:nvPr>
        </p:nvSpPr>
        <p:spPr/>
        <p:txBody>
          <a:bodyPr/>
          <a:lstStyle/>
          <a:p>
            <a:fld id="{E5145228-5776-40F6-BECA-EFD1BCEEDFA5}" type="datetimeFigureOut">
              <a:rPr lang="en-US" smtClean="0"/>
              <a:t>10/24/2022</a:t>
            </a:fld>
            <a:endParaRPr lang="en-US"/>
          </a:p>
        </p:txBody>
      </p:sp>
      <p:sp>
        <p:nvSpPr>
          <p:cNvPr id="6" name="Footer Placeholder 5">
            <a:extLst>
              <a:ext uri="{FF2B5EF4-FFF2-40B4-BE49-F238E27FC236}">
                <a16:creationId xmlns:a16="http://schemas.microsoft.com/office/drawing/2014/main" id="{2001DABF-5862-92EF-2E9B-6EA107B042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CDC89C-EDA3-2E33-96D9-05B175916C49}"/>
              </a:ext>
            </a:extLst>
          </p:cNvPr>
          <p:cNvSpPr>
            <a:spLocks noGrp="1"/>
          </p:cNvSpPr>
          <p:nvPr>
            <p:ph type="sldNum" sz="quarter" idx="12"/>
          </p:nvPr>
        </p:nvSpPr>
        <p:spPr/>
        <p:txBody>
          <a:bodyPr/>
          <a:lstStyle/>
          <a:p>
            <a:fld id="{7217760A-308B-4E9D-9750-0C333F444CED}" type="slidenum">
              <a:rPr lang="en-US" smtClean="0"/>
              <a:t>‹#›</a:t>
            </a:fld>
            <a:endParaRPr lang="en-US"/>
          </a:p>
        </p:txBody>
      </p:sp>
    </p:spTree>
    <p:extLst>
      <p:ext uri="{BB962C8B-B14F-4D97-AF65-F5344CB8AC3E}">
        <p14:creationId xmlns:p14="http://schemas.microsoft.com/office/powerpoint/2010/main" val="26444023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C8E2F-57F4-1CF2-EB34-8E5943ABE9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D5E6174-BAAF-9A0D-F18F-6831937C68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1F09228-638E-5460-683F-0B23D225F3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500125-AD41-2C79-F18E-B76E2C63DEC2}"/>
              </a:ext>
            </a:extLst>
          </p:cNvPr>
          <p:cNvSpPr>
            <a:spLocks noGrp="1"/>
          </p:cNvSpPr>
          <p:nvPr>
            <p:ph type="dt" sz="half" idx="10"/>
          </p:nvPr>
        </p:nvSpPr>
        <p:spPr/>
        <p:txBody>
          <a:bodyPr/>
          <a:lstStyle/>
          <a:p>
            <a:fld id="{E5145228-5776-40F6-BECA-EFD1BCEEDFA5}" type="datetimeFigureOut">
              <a:rPr lang="en-US" smtClean="0"/>
              <a:t>10/24/2022</a:t>
            </a:fld>
            <a:endParaRPr lang="en-US"/>
          </a:p>
        </p:txBody>
      </p:sp>
      <p:sp>
        <p:nvSpPr>
          <p:cNvPr id="6" name="Footer Placeholder 5">
            <a:extLst>
              <a:ext uri="{FF2B5EF4-FFF2-40B4-BE49-F238E27FC236}">
                <a16:creationId xmlns:a16="http://schemas.microsoft.com/office/drawing/2014/main" id="{A99D0389-1A87-A382-1925-E8039C6EC0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38E153-4993-F497-2556-E4D780FE580F}"/>
              </a:ext>
            </a:extLst>
          </p:cNvPr>
          <p:cNvSpPr>
            <a:spLocks noGrp="1"/>
          </p:cNvSpPr>
          <p:nvPr>
            <p:ph type="sldNum" sz="quarter" idx="12"/>
          </p:nvPr>
        </p:nvSpPr>
        <p:spPr/>
        <p:txBody>
          <a:bodyPr/>
          <a:lstStyle/>
          <a:p>
            <a:fld id="{7217760A-308B-4E9D-9750-0C333F444CED}" type="slidenum">
              <a:rPr lang="en-US" smtClean="0"/>
              <a:t>‹#›</a:t>
            </a:fld>
            <a:endParaRPr lang="en-US"/>
          </a:p>
        </p:txBody>
      </p:sp>
    </p:spTree>
    <p:extLst>
      <p:ext uri="{BB962C8B-B14F-4D97-AF65-F5344CB8AC3E}">
        <p14:creationId xmlns:p14="http://schemas.microsoft.com/office/powerpoint/2010/main" val="4248650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7938F-3570-E2A4-FD22-F36C3E71FA2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0D33F68-236E-AADF-E750-74BA3255DC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8CEA83-AE7C-0558-F1FC-8EA2B2323501}"/>
              </a:ext>
            </a:extLst>
          </p:cNvPr>
          <p:cNvSpPr>
            <a:spLocks noGrp="1"/>
          </p:cNvSpPr>
          <p:nvPr>
            <p:ph type="dt" sz="half" idx="10"/>
          </p:nvPr>
        </p:nvSpPr>
        <p:spPr/>
        <p:txBody>
          <a:bodyPr/>
          <a:lstStyle/>
          <a:p>
            <a:fld id="{E5145228-5776-40F6-BECA-EFD1BCEEDFA5}" type="datetimeFigureOut">
              <a:rPr lang="en-US" smtClean="0"/>
              <a:t>10/24/2022</a:t>
            </a:fld>
            <a:endParaRPr lang="en-US"/>
          </a:p>
        </p:txBody>
      </p:sp>
      <p:sp>
        <p:nvSpPr>
          <p:cNvPr id="5" name="Footer Placeholder 4">
            <a:extLst>
              <a:ext uri="{FF2B5EF4-FFF2-40B4-BE49-F238E27FC236}">
                <a16:creationId xmlns:a16="http://schemas.microsoft.com/office/drawing/2014/main" id="{E32AEC76-1DAB-9A4B-823F-796740DC19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F5F25E-37D6-328A-C6EA-A69498CBB95E}"/>
              </a:ext>
            </a:extLst>
          </p:cNvPr>
          <p:cNvSpPr>
            <a:spLocks noGrp="1"/>
          </p:cNvSpPr>
          <p:nvPr>
            <p:ph type="sldNum" sz="quarter" idx="12"/>
          </p:nvPr>
        </p:nvSpPr>
        <p:spPr/>
        <p:txBody>
          <a:bodyPr/>
          <a:lstStyle/>
          <a:p>
            <a:fld id="{7217760A-308B-4E9D-9750-0C333F444CED}" type="slidenum">
              <a:rPr lang="en-US" smtClean="0"/>
              <a:t>‹#›</a:t>
            </a:fld>
            <a:endParaRPr lang="en-US"/>
          </a:p>
        </p:txBody>
      </p:sp>
    </p:spTree>
    <p:extLst>
      <p:ext uri="{BB962C8B-B14F-4D97-AF65-F5344CB8AC3E}">
        <p14:creationId xmlns:p14="http://schemas.microsoft.com/office/powerpoint/2010/main" val="24603351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7672C8-D709-734A-F480-39EBBB845DC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984B192-B29B-9B9C-1B7F-D489944BD17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88B2AC-30FD-F1A1-49A6-114D56F821E1}"/>
              </a:ext>
            </a:extLst>
          </p:cNvPr>
          <p:cNvSpPr>
            <a:spLocks noGrp="1"/>
          </p:cNvSpPr>
          <p:nvPr>
            <p:ph type="dt" sz="half" idx="10"/>
          </p:nvPr>
        </p:nvSpPr>
        <p:spPr/>
        <p:txBody>
          <a:bodyPr/>
          <a:lstStyle/>
          <a:p>
            <a:fld id="{E5145228-5776-40F6-BECA-EFD1BCEEDFA5}" type="datetimeFigureOut">
              <a:rPr lang="en-US" smtClean="0"/>
              <a:t>10/24/2022</a:t>
            </a:fld>
            <a:endParaRPr lang="en-US"/>
          </a:p>
        </p:txBody>
      </p:sp>
      <p:sp>
        <p:nvSpPr>
          <p:cNvPr id="5" name="Footer Placeholder 4">
            <a:extLst>
              <a:ext uri="{FF2B5EF4-FFF2-40B4-BE49-F238E27FC236}">
                <a16:creationId xmlns:a16="http://schemas.microsoft.com/office/drawing/2014/main" id="{B50B6858-5C14-65CF-E572-27C814FDEB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B2E45F-C4AF-F488-DCCD-CAA8C0A92E98}"/>
              </a:ext>
            </a:extLst>
          </p:cNvPr>
          <p:cNvSpPr>
            <a:spLocks noGrp="1"/>
          </p:cNvSpPr>
          <p:nvPr>
            <p:ph type="sldNum" sz="quarter" idx="12"/>
          </p:nvPr>
        </p:nvSpPr>
        <p:spPr/>
        <p:txBody>
          <a:bodyPr/>
          <a:lstStyle/>
          <a:p>
            <a:fld id="{7217760A-308B-4E9D-9750-0C333F444CED}" type="slidenum">
              <a:rPr lang="en-US" smtClean="0"/>
              <a:t>‹#›</a:t>
            </a:fld>
            <a:endParaRPr lang="en-US"/>
          </a:p>
        </p:txBody>
      </p:sp>
    </p:spTree>
    <p:extLst>
      <p:ext uri="{BB962C8B-B14F-4D97-AF65-F5344CB8AC3E}">
        <p14:creationId xmlns:p14="http://schemas.microsoft.com/office/powerpoint/2010/main" val="911646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ED5011-4F2A-DC78-515F-93AC41D050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022668A-969F-556D-21DE-1A7A1D3381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CE5404-9DF6-61F9-BD07-0B5ABEFEA9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145228-5776-40F6-BECA-EFD1BCEEDFA5}" type="datetimeFigureOut">
              <a:rPr lang="en-US" smtClean="0"/>
              <a:t>10/24/2022</a:t>
            </a:fld>
            <a:endParaRPr lang="en-US"/>
          </a:p>
        </p:txBody>
      </p:sp>
      <p:sp>
        <p:nvSpPr>
          <p:cNvPr id="5" name="Footer Placeholder 4">
            <a:extLst>
              <a:ext uri="{FF2B5EF4-FFF2-40B4-BE49-F238E27FC236}">
                <a16:creationId xmlns:a16="http://schemas.microsoft.com/office/drawing/2014/main" id="{59567A46-80F5-C586-99CF-97DD99DC2F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BA974BA-486F-FCDE-BCDA-450518EE9C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17760A-308B-4E9D-9750-0C333F444CED}" type="slidenum">
              <a:rPr lang="en-US" smtClean="0"/>
              <a:t>‹#›</a:t>
            </a:fld>
            <a:endParaRPr lang="en-US"/>
          </a:p>
        </p:txBody>
      </p:sp>
    </p:spTree>
    <p:extLst>
      <p:ext uri="{BB962C8B-B14F-4D97-AF65-F5344CB8AC3E}">
        <p14:creationId xmlns:p14="http://schemas.microsoft.com/office/powerpoint/2010/main" val="19310138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DE321-FB98-B5DB-3146-41A6E58F33D9}"/>
              </a:ext>
            </a:extLst>
          </p:cNvPr>
          <p:cNvSpPr>
            <a:spLocks noGrp="1"/>
          </p:cNvSpPr>
          <p:nvPr>
            <p:ph type="ctrTitle"/>
          </p:nvPr>
        </p:nvSpPr>
        <p:spPr/>
        <p:txBody>
          <a:bodyPr/>
          <a:lstStyle/>
          <a:p>
            <a:r>
              <a:rPr lang="en-US" dirty="0"/>
              <a:t>Control of Inspection, Measuring &amp; Test Equipment</a:t>
            </a:r>
          </a:p>
        </p:txBody>
      </p:sp>
      <p:sp>
        <p:nvSpPr>
          <p:cNvPr id="3" name="Subtitle 2">
            <a:extLst>
              <a:ext uri="{FF2B5EF4-FFF2-40B4-BE49-F238E27FC236}">
                <a16:creationId xmlns:a16="http://schemas.microsoft.com/office/drawing/2014/main" id="{8A3BB13E-B3D5-D945-BB3B-ECDE36AFD4A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3839865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EF817-F41A-FF04-DFCD-2BA45BBD70C6}"/>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91E7758-5E8F-FAFC-0FB4-8AA0231F2945}"/>
              </a:ext>
            </a:extLst>
          </p:cNvPr>
          <p:cNvSpPr>
            <a:spLocks noGrp="1"/>
          </p:cNvSpPr>
          <p:nvPr>
            <p:ph idx="1"/>
          </p:nvPr>
        </p:nvSpPr>
        <p:spPr/>
        <p:txBody>
          <a:bodyPr>
            <a:normAutofit fontScale="85000" lnSpcReduction="20000"/>
          </a:bodyPr>
          <a:lstStyle/>
          <a:p>
            <a:r>
              <a:rPr lang="en-US" dirty="0"/>
              <a:t>Process</a:t>
            </a:r>
          </a:p>
          <a:p>
            <a:r>
              <a:rPr lang="en-US" dirty="0"/>
              <a:t>New Gauges</a:t>
            </a:r>
          </a:p>
          <a:p>
            <a:r>
              <a:rPr lang="en-US" dirty="0"/>
              <a:t>Gauge Calibration Recall Procedure</a:t>
            </a:r>
          </a:p>
          <a:p>
            <a:r>
              <a:rPr lang="en-US" dirty="0"/>
              <a:t>Gauges received from the Calibration Lab</a:t>
            </a:r>
          </a:p>
          <a:p>
            <a:r>
              <a:rPr lang="en-US" dirty="0"/>
              <a:t>Out of Tolerance Gauges</a:t>
            </a:r>
          </a:p>
          <a:p>
            <a:r>
              <a:rPr lang="en-US" dirty="0"/>
              <a:t>Calibration Intervals</a:t>
            </a:r>
          </a:p>
          <a:p>
            <a:r>
              <a:rPr lang="en-US" dirty="0"/>
              <a:t>Adjustment of Calibration Interval</a:t>
            </a:r>
          </a:p>
          <a:p>
            <a:r>
              <a:rPr lang="en-US" dirty="0"/>
              <a:t>Damaged or Inaccurate Gauges</a:t>
            </a:r>
          </a:p>
          <a:p>
            <a:r>
              <a:rPr lang="en-US" dirty="0"/>
              <a:t>Qualification of Calibration Laboratories</a:t>
            </a:r>
          </a:p>
          <a:p>
            <a:r>
              <a:rPr lang="en-US" dirty="0"/>
              <a:t>Daily Check – Care and Use of Equipment</a:t>
            </a:r>
          </a:p>
          <a:p>
            <a:r>
              <a:rPr lang="en-US" dirty="0"/>
              <a:t>Environmental Conditions</a:t>
            </a:r>
          </a:p>
          <a:p>
            <a:endParaRPr lang="en-US" dirty="0"/>
          </a:p>
        </p:txBody>
      </p:sp>
    </p:spTree>
    <p:extLst>
      <p:ext uri="{BB962C8B-B14F-4D97-AF65-F5344CB8AC3E}">
        <p14:creationId xmlns:p14="http://schemas.microsoft.com/office/powerpoint/2010/main" val="36408004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C2DEF-F00D-8B14-9D3B-4DAA8B624C67}"/>
              </a:ext>
            </a:extLst>
          </p:cNvPr>
          <p:cNvSpPr>
            <a:spLocks noGrp="1"/>
          </p:cNvSpPr>
          <p:nvPr>
            <p:ph type="title"/>
          </p:nvPr>
        </p:nvSpPr>
        <p:spPr/>
        <p:txBody>
          <a:bodyPr/>
          <a:lstStyle/>
          <a:p>
            <a:r>
              <a:rPr lang="en-US" dirty="0"/>
              <a:t>Process</a:t>
            </a:r>
          </a:p>
        </p:txBody>
      </p:sp>
      <p:sp>
        <p:nvSpPr>
          <p:cNvPr id="3" name="Content Placeholder 2">
            <a:extLst>
              <a:ext uri="{FF2B5EF4-FFF2-40B4-BE49-F238E27FC236}">
                <a16:creationId xmlns:a16="http://schemas.microsoft.com/office/drawing/2014/main" id="{010CB888-858D-89C9-8319-2D1C24651F9E}"/>
              </a:ext>
            </a:extLst>
          </p:cNvPr>
          <p:cNvSpPr>
            <a:spLocks noGrp="1"/>
          </p:cNvSpPr>
          <p:nvPr>
            <p:ph idx="1"/>
          </p:nvPr>
        </p:nvSpPr>
        <p:spPr/>
        <p:txBody>
          <a:bodyPr>
            <a:normAutofit fontScale="70000" lnSpcReduction="20000"/>
          </a:bodyPr>
          <a:lstStyle/>
          <a:p>
            <a:r>
              <a:rPr lang="en-US" dirty="0"/>
              <a:t>1.	The responsibility for compliance with this procedure is with the Production Manager</a:t>
            </a:r>
          </a:p>
          <a:p>
            <a:r>
              <a:rPr lang="en-US" dirty="0"/>
              <a:t>2.	Responsibility for the safeguard of the gauge is the user. The user shall ensure proper handling, usage, and storage of the gauge.</a:t>
            </a:r>
          </a:p>
          <a:p>
            <a:r>
              <a:rPr lang="en-US" dirty="0"/>
              <a:t>3.	Gauges must be calibrated, certified, and labeled before use. Any gauge or tool found to be overdue for calibration shall be immediately surrendered to the Production Manager for quarantine. </a:t>
            </a:r>
          </a:p>
          <a:p>
            <a:r>
              <a:rPr lang="en-US" dirty="0"/>
              <a:t>4.	Any personal gauges used at The Organization may be entered into the calibration system and must be kept current. Personal gauges may be marked “Reference Only” and may NOT be used in any way for inspection data, design data collection/ determinations, or to determine product conformity. </a:t>
            </a:r>
          </a:p>
          <a:p>
            <a:r>
              <a:rPr lang="en-US" dirty="0"/>
              <a:t>5.	Calibration of equipment and gauges shall be performed by an approved calibration laboratory with standards traceable to National Institute of Standards and Technology (NIST) or other accrediting national standards authority and preferably A2LA (US) accredited.</a:t>
            </a:r>
          </a:p>
          <a:p>
            <a:r>
              <a:rPr lang="en-US" dirty="0"/>
              <a:t>6.	Unless otherwise stated, v-blocks, and mounting fixtures shall be treated as “for indication only” and are not subject to calibration.</a:t>
            </a:r>
          </a:p>
        </p:txBody>
      </p:sp>
    </p:spTree>
    <p:extLst>
      <p:ext uri="{BB962C8B-B14F-4D97-AF65-F5344CB8AC3E}">
        <p14:creationId xmlns:p14="http://schemas.microsoft.com/office/powerpoint/2010/main" val="12308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D34DB-E43E-3ACA-2F4C-B1F7F65E935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5FA329E-9AA1-1B95-8BC4-A167B95A1B40}"/>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324501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5DC4F-6494-6A7E-CF89-8F8982E36550}"/>
              </a:ext>
            </a:extLst>
          </p:cNvPr>
          <p:cNvSpPr>
            <a:spLocks noGrp="1"/>
          </p:cNvSpPr>
          <p:nvPr>
            <p:ph type="title"/>
          </p:nvPr>
        </p:nvSpPr>
        <p:spPr/>
        <p:txBody>
          <a:bodyPr/>
          <a:lstStyle/>
          <a:p>
            <a:r>
              <a:rPr lang="en-US" dirty="0"/>
              <a:t>New Gauges</a:t>
            </a:r>
          </a:p>
        </p:txBody>
      </p:sp>
      <p:sp>
        <p:nvSpPr>
          <p:cNvPr id="3" name="Content Placeholder 2">
            <a:extLst>
              <a:ext uri="{FF2B5EF4-FFF2-40B4-BE49-F238E27FC236}">
                <a16:creationId xmlns:a16="http://schemas.microsoft.com/office/drawing/2014/main" id="{1CE37868-2CFF-C164-6923-EC70A2DF76CF}"/>
              </a:ext>
            </a:extLst>
          </p:cNvPr>
          <p:cNvSpPr>
            <a:spLocks noGrp="1"/>
          </p:cNvSpPr>
          <p:nvPr>
            <p:ph idx="1"/>
          </p:nvPr>
        </p:nvSpPr>
        <p:spPr/>
        <p:txBody>
          <a:bodyPr>
            <a:normAutofit fontScale="62500" lnSpcReduction="20000"/>
          </a:bodyPr>
          <a:lstStyle/>
          <a:p>
            <a:r>
              <a:rPr lang="en-US" dirty="0"/>
              <a:t>1.	Prior to the use of any new gauge for the first time, the gauge shall be brought to the PRODUCTION MANAGER for entry and recording into the Calibration system. </a:t>
            </a:r>
          </a:p>
          <a:p>
            <a:r>
              <a:rPr lang="en-US" dirty="0"/>
              <a:t>2.	PRODUCTION MANAGER shall assign the new gauge a gauge number. This number shall be affixed to the gauge using the most permanent and practical method possible. In cases where it is not practical to mark the gauge, the case may be marked, or the gauge must be tagged. The case or the tag must always remain with the gauge. </a:t>
            </a:r>
          </a:p>
          <a:p>
            <a:r>
              <a:rPr lang="en-US" dirty="0"/>
              <a:t>3.	The new gauge shall have a new record entered in the </a:t>
            </a:r>
            <a:r>
              <a:rPr lang="en-US" dirty="0" err="1"/>
              <a:t>The</a:t>
            </a:r>
            <a:r>
              <a:rPr lang="en-US" dirty="0"/>
              <a:t> Organization calibration system. The information should contain the following:</a:t>
            </a:r>
          </a:p>
          <a:p>
            <a:r>
              <a:rPr lang="en-US" dirty="0"/>
              <a:t>3.1.	Gauge ID number</a:t>
            </a:r>
          </a:p>
          <a:p>
            <a:r>
              <a:rPr lang="en-US" dirty="0"/>
              <a:t>3.2.	Gauge Serial Number (if applicable)</a:t>
            </a:r>
          </a:p>
          <a:p>
            <a:r>
              <a:rPr lang="en-US" dirty="0"/>
              <a:t>3.3.	Model number</a:t>
            </a:r>
          </a:p>
          <a:p>
            <a:r>
              <a:rPr lang="en-US" dirty="0"/>
              <a:t>3.4.	Gauge type</a:t>
            </a:r>
          </a:p>
          <a:p>
            <a:r>
              <a:rPr lang="en-US" dirty="0"/>
              <a:t>3.5.	Storage Location</a:t>
            </a:r>
          </a:p>
          <a:p>
            <a:r>
              <a:rPr lang="en-US" dirty="0"/>
              <a:t>3.6.	Manufacturer</a:t>
            </a:r>
          </a:p>
          <a:p>
            <a:r>
              <a:rPr lang="en-US" dirty="0"/>
              <a:t>3.7.	Typical unit of measure (distance, weight, angle, etc.)</a:t>
            </a:r>
          </a:p>
          <a:p>
            <a:endParaRPr lang="en-US" dirty="0"/>
          </a:p>
        </p:txBody>
      </p:sp>
    </p:spTree>
    <p:extLst>
      <p:ext uri="{BB962C8B-B14F-4D97-AF65-F5344CB8AC3E}">
        <p14:creationId xmlns:p14="http://schemas.microsoft.com/office/powerpoint/2010/main" val="26006785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1CB52-6EEA-3CB7-1893-CCE44223B4D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C470A01-C470-2E67-1FCE-B87D1C15D78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6190607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1A3D1-F663-2F47-D55A-9142D61CDA15}"/>
              </a:ext>
            </a:extLst>
          </p:cNvPr>
          <p:cNvSpPr>
            <a:spLocks noGrp="1"/>
          </p:cNvSpPr>
          <p:nvPr>
            <p:ph type="title"/>
          </p:nvPr>
        </p:nvSpPr>
        <p:spPr/>
        <p:txBody>
          <a:bodyPr/>
          <a:lstStyle/>
          <a:p>
            <a:r>
              <a:rPr lang="en-US" dirty="0"/>
              <a:t>Gauge Calibration Recall Procedure</a:t>
            </a:r>
          </a:p>
        </p:txBody>
      </p:sp>
      <p:sp>
        <p:nvSpPr>
          <p:cNvPr id="3" name="Content Placeholder 2">
            <a:extLst>
              <a:ext uri="{FF2B5EF4-FFF2-40B4-BE49-F238E27FC236}">
                <a16:creationId xmlns:a16="http://schemas.microsoft.com/office/drawing/2014/main" id="{2189270F-FC8F-5726-B9E9-020FF0AC88D4}"/>
              </a:ext>
            </a:extLst>
          </p:cNvPr>
          <p:cNvSpPr>
            <a:spLocks noGrp="1"/>
          </p:cNvSpPr>
          <p:nvPr>
            <p:ph idx="1"/>
          </p:nvPr>
        </p:nvSpPr>
        <p:spPr/>
        <p:txBody>
          <a:bodyPr>
            <a:normAutofit fontScale="85000" lnSpcReduction="20000"/>
          </a:bodyPr>
          <a:lstStyle/>
          <a:p>
            <a:r>
              <a:rPr lang="en-US" dirty="0"/>
              <a:t>1.	PRODUCTION MANAGER shall review the calibration due report and determine which gauges are due for calibration in the current and following month. It is strongly recommended that gauges requiring calibration in the current month be removed from service prior to the calibration expiration date. </a:t>
            </a:r>
          </a:p>
          <a:p>
            <a:r>
              <a:rPr lang="en-US" dirty="0"/>
              <a:t>2.	The gauge shall be segregated into a secure area to prevent the unintended use until the gauge can be sent out for calibration. </a:t>
            </a:r>
          </a:p>
          <a:p>
            <a:r>
              <a:rPr lang="en-US" dirty="0"/>
              <a:t>3.	PRODUCTION MANAGER will record the following information for gauge traceability as appropriate. </a:t>
            </a:r>
          </a:p>
          <a:p>
            <a:r>
              <a:rPr lang="en-US" dirty="0"/>
              <a:t>3.1.	The date that the gauge was sent out for calibration.</a:t>
            </a:r>
          </a:p>
          <a:p>
            <a:r>
              <a:rPr lang="en-US" dirty="0"/>
              <a:t>3.2.	The name of the company who will be performing the calibration.</a:t>
            </a:r>
          </a:p>
          <a:p>
            <a:r>
              <a:rPr lang="en-US" dirty="0"/>
              <a:t>3.3.	The expected due date of the gauge. </a:t>
            </a:r>
          </a:p>
          <a:p>
            <a:r>
              <a:rPr lang="en-US" dirty="0"/>
              <a:t>3.4.	Any known problems or issues with the gauge. </a:t>
            </a:r>
          </a:p>
          <a:p>
            <a:endParaRPr lang="en-US" dirty="0"/>
          </a:p>
        </p:txBody>
      </p:sp>
    </p:spTree>
    <p:extLst>
      <p:ext uri="{BB962C8B-B14F-4D97-AF65-F5344CB8AC3E}">
        <p14:creationId xmlns:p14="http://schemas.microsoft.com/office/powerpoint/2010/main" val="10726646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37E5F-A7F2-B5A0-433F-78F6663E512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17B34D0-E267-5C3E-5119-141D8915DC7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8511710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5A662-4D83-C1AF-3A01-1FA332E9BCEF}"/>
              </a:ext>
            </a:extLst>
          </p:cNvPr>
          <p:cNvSpPr>
            <a:spLocks noGrp="1"/>
          </p:cNvSpPr>
          <p:nvPr>
            <p:ph type="title"/>
          </p:nvPr>
        </p:nvSpPr>
        <p:spPr/>
        <p:txBody>
          <a:bodyPr/>
          <a:lstStyle/>
          <a:p>
            <a:r>
              <a:rPr lang="en-US" dirty="0"/>
              <a:t>Gauges received from the Calibration Lab</a:t>
            </a:r>
            <a:br>
              <a:rPr lang="en-US" dirty="0"/>
            </a:br>
            <a:endParaRPr lang="en-US" dirty="0"/>
          </a:p>
        </p:txBody>
      </p:sp>
      <p:sp>
        <p:nvSpPr>
          <p:cNvPr id="3" name="Content Placeholder 2">
            <a:extLst>
              <a:ext uri="{FF2B5EF4-FFF2-40B4-BE49-F238E27FC236}">
                <a16:creationId xmlns:a16="http://schemas.microsoft.com/office/drawing/2014/main" id="{F2A26508-50DA-9A9A-C3B5-65215B349769}"/>
              </a:ext>
            </a:extLst>
          </p:cNvPr>
          <p:cNvSpPr>
            <a:spLocks noGrp="1"/>
          </p:cNvSpPr>
          <p:nvPr>
            <p:ph idx="1"/>
          </p:nvPr>
        </p:nvSpPr>
        <p:spPr/>
        <p:txBody>
          <a:bodyPr>
            <a:normAutofit fontScale="70000" lnSpcReduction="20000"/>
          </a:bodyPr>
          <a:lstStyle/>
          <a:p>
            <a:r>
              <a:rPr lang="en-US" dirty="0"/>
              <a:t>1.	Upon receipt of the gauge from the calibration lab, PRODUCTION MANAGER shall verify that the gauge is labeled with the correct serial number, gauge ID (or certificate number), the date of calibration, and the due date for the next calibration. </a:t>
            </a:r>
          </a:p>
          <a:p>
            <a:r>
              <a:rPr lang="en-US" dirty="0"/>
              <a:t>2.	PRODUCTION MANAGER shall also verify that the Certification of Calibration is acceptable. For example, the Certification:</a:t>
            </a:r>
          </a:p>
          <a:p>
            <a:r>
              <a:rPr lang="en-US" dirty="0"/>
              <a:t>•	Identify the gauge ID and/or serial number.</a:t>
            </a:r>
          </a:p>
          <a:p>
            <a:r>
              <a:rPr lang="en-US" dirty="0"/>
              <a:t>•	Is signed and/or stamped by the calibration laboratory.</a:t>
            </a:r>
          </a:p>
          <a:p>
            <a:r>
              <a:rPr lang="en-US" dirty="0"/>
              <a:t>•	Confirms that the gauge was received and returned within the specified tolerance condition.</a:t>
            </a:r>
          </a:p>
          <a:p>
            <a:r>
              <a:rPr lang="en-US" dirty="0"/>
              <a:t>•	Provides the traceability to NIST (US) or equivalent.</a:t>
            </a:r>
          </a:p>
          <a:p>
            <a:r>
              <a:rPr lang="en-US" dirty="0"/>
              <a:t>•	That no defective condition was noted or reported by the calibration lab.</a:t>
            </a:r>
          </a:p>
          <a:p>
            <a:r>
              <a:rPr lang="en-US" dirty="0"/>
              <a:t>•	That a complete calibration was performed on the gauge. For example, calipers require OD, ID, and a depth calibration. </a:t>
            </a:r>
          </a:p>
          <a:p>
            <a:r>
              <a:rPr lang="en-US" dirty="0"/>
              <a:t>•	Must show the “as received” and the “as returned” conditions of the gauge.</a:t>
            </a:r>
          </a:p>
        </p:txBody>
      </p:sp>
    </p:spTree>
    <p:extLst>
      <p:ext uri="{BB962C8B-B14F-4D97-AF65-F5344CB8AC3E}">
        <p14:creationId xmlns:p14="http://schemas.microsoft.com/office/powerpoint/2010/main" val="11806725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C395A-E91E-80F0-A3DB-980DBE5A6BF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687E79F-D8FB-8249-B0A2-DF1172E003C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6349322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DB7FF-6164-6DCA-75E4-23C31A66F961}"/>
              </a:ext>
            </a:extLst>
          </p:cNvPr>
          <p:cNvSpPr>
            <a:spLocks noGrp="1"/>
          </p:cNvSpPr>
          <p:nvPr>
            <p:ph type="title"/>
          </p:nvPr>
        </p:nvSpPr>
        <p:spPr/>
        <p:txBody>
          <a:bodyPr/>
          <a:lstStyle/>
          <a:p>
            <a:r>
              <a:rPr lang="en-US" dirty="0"/>
              <a:t>Out of Tolerance Gauges</a:t>
            </a:r>
            <a:br>
              <a:rPr lang="en-US" dirty="0"/>
            </a:br>
            <a:endParaRPr lang="en-US" dirty="0"/>
          </a:p>
        </p:txBody>
      </p:sp>
      <p:sp>
        <p:nvSpPr>
          <p:cNvPr id="3" name="Content Placeholder 2">
            <a:extLst>
              <a:ext uri="{FF2B5EF4-FFF2-40B4-BE49-F238E27FC236}">
                <a16:creationId xmlns:a16="http://schemas.microsoft.com/office/drawing/2014/main" id="{654E3E94-2661-94DA-6D2E-4E71D6A7D356}"/>
              </a:ext>
            </a:extLst>
          </p:cNvPr>
          <p:cNvSpPr>
            <a:spLocks noGrp="1"/>
          </p:cNvSpPr>
          <p:nvPr>
            <p:ph idx="1"/>
          </p:nvPr>
        </p:nvSpPr>
        <p:spPr/>
        <p:txBody>
          <a:bodyPr>
            <a:normAutofit fontScale="85000" lnSpcReduction="20000"/>
          </a:bodyPr>
          <a:lstStyle/>
          <a:p>
            <a:r>
              <a:rPr lang="en-US" dirty="0"/>
              <a:t>1.	Gauges which are found to be out of tolerance, damaged, broken, or not properly calibrated, the PRODUCTION Manager or PRODUCTION MANAGER shall Tag and segregate the gauge in a secure area to prevent its use. </a:t>
            </a:r>
          </a:p>
          <a:p>
            <a:r>
              <a:rPr lang="en-US" dirty="0"/>
              <a:t>2.	The Tag shall state “DO NOT USE” and should include the reason, such as “out of calibration” or “broken” and a date. </a:t>
            </a:r>
          </a:p>
          <a:p>
            <a:r>
              <a:rPr lang="en-US" dirty="0"/>
              <a:t>3.	The PRODUCTION Manager shall review the reported gauge condition and determine what action is required. In the event any gauge is found to be out of tolerance by more than 10% of the accuracy of the gauge, the PRODUCTION Manager shall:</a:t>
            </a:r>
          </a:p>
          <a:p>
            <a:r>
              <a:rPr lang="en-US" dirty="0"/>
              <a:t>3.1.	Place on “QC HOLD” all products which have been inspected with the gage during the time in which the gauge was suspected of being out of tolerance.</a:t>
            </a:r>
          </a:p>
          <a:p>
            <a:r>
              <a:rPr lang="en-US" dirty="0"/>
              <a:t>3.2.	Determine if a product recall &amp; notification to customers is necessary and/or required. </a:t>
            </a:r>
          </a:p>
        </p:txBody>
      </p:sp>
    </p:spTree>
    <p:extLst>
      <p:ext uri="{BB962C8B-B14F-4D97-AF65-F5344CB8AC3E}">
        <p14:creationId xmlns:p14="http://schemas.microsoft.com/office/powerpoint/2010/main" val="22921919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2EE77-58D7-3EBC-7F0D-0E59253D980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54CF82D-7861-FF36-710B-B88EC07BAD7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6848363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55F31-0503-3137-5E0B-78B336CD1D6F}"/>
              </a:ext>
            </a:extLst>
          </p:cNvPr>
          <p:cNvSpPr>
            <a:spLocks noGrp="1"/>
          </p:cNvSpPr>
          <p:nvPr>
            <p:ph type="title"/>
          </p:nvPr>
        </p:nvSpPr>
        <p:spPr/>
        <p:txBody>
          <a:bodyPr/>
          <a:lstStyle/>
          <a:p>
            <a:r>
              <a:rPr lang="en-US" dirty="0"/>
              <a:t>Calibration Intervals</a:t>
            </a:r>
            <a:br>
              <a:rPr lang="en-US" dirty="0"/>
            </a:br>
            <a:endParaRPr lang="en-US" dirty="0"/>
          </a:p>
        </p:txBody>
      </p:sp>
      <p:sp>
        <p:nvSpPr>
          <p:cNvPr id="3" name="Content Placeholder 2">
            <a:extLst>
              <a:ext uri="{FF2B5EF4-FFF2-40B4-BE49-F238E27FC236}">
                <a16:creationId xmlns:a16="http://schemas.microsoft.com/office/drawing/2014/main" id="{5554633C-C8FF-04DC-9E79-F50F2A4BD49C}"/>
              </a:ext>
            </a:extLst>
          </p:cNvPr>
          <p:cNvSpPr>
            <a:spLocks noGrp="1"/>
          </p:cNvSpPr>
          <p:nvPr>
            <p:ph idx="1"/>
          </p:nvPr>
        </p:nvSpPr>
        <p:spPr/>
        <p:txBody>
          <a:bodyPr/>
          <a:lstStyle/>
          <a:p>
            <a:r>
              <a:rPr lang="en-US" dirty="0"/>
              <a:t>Test and measurement equipment shall be calibrated at prescribed intervals. Calibration intervals shall be based upon manufacturer’s recommendations, previous calibration history, and the stability of the gauge. The following gauge family/type intervals are to be used as a guideline only</a:t>
            </a:r>
          </a:p>
        </p:txBody>
      </p:sp>
    </p:spTree>
    <p:extLst>
      <p:ext uri="{BB962C8B-B14F-4D97-AF65-F5344CB8AC3E}">
        <p14:creationId xmlns:p14="http://schemas.microsoft.com/office/powerpoint/2010/main" val="4853012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53577-6B8B-D140-20F1-E9CF150457C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745414C-18D5-9C05-5B3F-DAA9F64F885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6880614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44A55-6A88-61E5-3F97-4F9078E3F35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77ED844-F9D0-9B07-F9E8-FA7CCFADEEE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3363150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818CB-CE23-4993-B69E-FDE4C46AC228}"/>
              </a:ext>
            </a:extLst>
          </p:cNvPr>
          <p:cNvSpPr>
            <a:spLocks noGrp="1"/>
          </p:cNvSpPr>
          <p:nvPr>
            <p:ph type="title"/>
          </p:nvPr>
        </p:nvSpPr>
        <p:spPr/>
        <p:txBody>
          <a:bodyPr/>
          <a:lstStyle/>
          <a:p>
            <a:r>
              <a:rPr lang="en-US" dirty="0"/>
              <a:t>Adjustment of Calibration Interval</a:t>
            </a:r>
            <a:br>
              <a:rPr lang="en-US" dirty="0"/>
            </a:br>
            <a:endParaRPr lang="en-US" dirty="0"/>
          </a:p>
        </p:txBody>
      </p:sp>
      <p:sp>
        <p:nvSpPr>
          <p:cNvPr id="3" name="Content Placeholder 2">
            <a:extLst>
              <a:ext uri="{FF2B5EF4-FFF2-40B4-BE49-F238E27FC236}">
                <a16:creationId xmlns:a16="http://schemas.microsoft.com/office/drawing/2014/main" id="{5C4D060E-43C8-58E2-3E63-CE339A6C3830}"/>
              </a:ext>
            </a:extLst>
          </p:cNvPr>
          <p:cNvSpPr>
            <a:spLocks noGrp="1"/>
          </p:cNvSpPr>
          <p:nvPr>
            <p:ph idx="1"/>
          </p:nvPr>
        </p:nvSpPr>
        <p:spPr/>
        <p:txBody>
          <a:bodyPr>
            <a:normAutofit fontScale="70000" lnSpcReduction="20000"/>
          </a:bodyPr>
          <a:lstStyle/>
          <a:p>
            <a:r>
              <a:rPr lang="en-US" dirty="0"/>
              <a:t>1.	The PRODUCTION Manager may determine that a gauge can have its calibration cycle extended, based on criteria such as manufacturer calibration frequency suggestions, frequency of use, or evidence of continued stability. In exceptional cases an extension may be granted to complete a current job where there is no suitable replacement gauge. </a:t>
            </a:r>
          </a:p>
          <a:p>
            <a:r>
              <a:rPr lang="en-US" dirty="0"/>
              <a:t>1.1.	If the gauge has a history of five or more successive calibrations where no adjustments or repairs are made, then the interval may be lengthened at the discretion of the PRODUCTION Manager or Quality Engineer.</a:t>
            </a:r>
          </a:p>
          <a:p>
            <a:r>
              <a:rPr lang="en-US" dirty="0"/>
              <a:t>1.2.	If the gauge needs readjustments or repairs twice consecutively, then the calibration interval may be shortened to one-half of the present calibration cycle or other interval as approved by the PRODUCTION Manager or Quality Engineer. </a:t>
            </a:r>
          </a:p>
          <a:p>
            <a:r>
              <a:rPr lang="en-US" dirty="0"/>
              <a:t>2.	Where an extension is approved, the extension time shall not exceed six (6) months from the date the calibration was due. PRODUCTION MANAGER will document this extension by putting an extension sticker or tag on the gauge. This sticker will include the words “Extended Calibration,” the gauge number, and the extended calibration due date. </a:t>
            </a:r>
          </a:p>
          <a:p>
            <a:r>
              <a:rPr lang="en-US" dirty="0"/>
              <a:t>3.	If additional time is needed after the six (6) month period, only the PRODUCTION Manager may extend the calibration due date for another three (3) months. Under no circumstance can the gauge be extended past nine (9) months from the original calibration due date. </a:t>
            </a:r>
          </a:p>
          <a:p>
            <a:endParaRPr lang="en-US" dirty="0"/>
          </a:p>
        </p:txBody>
      </p:sp>
    </p:spTree>
    <p:extLst>
      <p:ext uri="{BB962C8B-B14F-4D97-AF65-F5344CB8AC3E}">
        <p14:creationId xmlns:p14="http://schemas.microsoft.com/office/powerpoint/2010/main" val="13135370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297A8-11ED-1357-5BE6-F889CF4826A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1D5155A-FF8D-2D65-42A0-EC52F3BC580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5625860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8275D-5C46-4A41-9DB7-AE97F0C99BAB}"/>
              </a:ext>
            </a:extLst>
          </p:cNvPr>
          <p:cNvSpPr>
            <a:spLocks noGrp="1"/>
          </p:cNvSpPr>
          <p:nvPr>
            <p:ph type="title"/>
          </p:nvPr>
        </p:nvSpPr>
        <p:spPr/>
        <p:txBody>
          <a:bodyPr/>
          <a:lstStyle/>
          <a:p>
            <a:r>
              <a:rPr lang="en-US" dirty="0"/>
              <a:t>Damaged or Inaccurate Gauges</a:t>
            </a:r>
            <a:br>
              <a:rPr lang="en-US" dirty="0"/>
            </a:br>
            <a:endParaRPr lang="en-US" dirty="0"/>
          </a:p>
        </p:txBody>
      </p:sp>
      <p:sp>
        <p:nvSpPr>
          <p:cNvPr id="3" name="Content Placeholder 2">
            <a:extLst>
              <a:ext uri="{FF2B5EF4-FFF2-40B4-BE49-F238E27FC236}">
                <a16:creationId xmlns:a16="http://schemas.microsoft.com/office/drawing/2014/main" id="{2F4FC38F-6A10-F299-751A-6E60379B7076}"/>
              </a:ext>
            </a:extLst>
          </p:cNvPr>
          <p:cNvSpPr>
            <a:spLocks noGrp="1"/>
          </p:cNvSpPr>
          <p:nvPr>
            <p:ph idx="1"/>
          </p:nvPr>
        </p:nvSpPr>
        <p:spPr/>
        <p:txBody>
          <a:bodyPr/>
          <a:lstStyle/>
          <a:p>
            <a:r>
              <a:rPr lang="en-US" dirty="0"/>
              <a:t>1.	If any gauge is dropped or discovered to be damaged or inaccurate while in service, that gauge shall be surrendered to the PRODUCTION MANAGER immediately. </a:t>
            </a:r>
          </a:p>
          <a:p>
            <a:r>
              <a:rPr lang="en-US" dirty="0"/>
              <a:t>2.	The PRODUCTION Manager shall review and disposition the gauge per this procedure. </a:t>
            </a:r>
          </a:p>
          <a:p>
            <a:r>
              <a:rPr lang="en-US" dirty="0"/>
              <a:t>3.	PRODUCTION MANAGER may arrange for the repair and re-calibration of the gauge if practical. </a:t>
            </a:r>
          </a:p>
          <a:p>
            <a:endParaRPr lang="en-US" dirty="0"/>
          </a:p>
        </p:txBody>
      </p:sp>
    </p:spTree>
    <p:extLst>
      <p:ext uri="{BB962C8B-B14F-4D97-AF65-F5344CB8AC3E}">
        <p14:creationId xmlns:p14="http://schemas.microsoft.com/office/powerpoint/2010/main" val="34145335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4E27D-AB4A-2F1D-B573-20C1991053B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AB97467-41CB-B68D-E085-00D9E6584CD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5776398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8E696-F83B-9895-B5A8-F9796B4CF944}"/>
              </a:ext>
            </a:extLst>
          </p:cNvPr>
          <p:cNvSpPr>
            <a:spLocks noGrp="1"/>
          </p:cNvSpPr>
          <p:nvPr>
            <p:ph type="title"/>
          </p:nvPr>
        </p:nvSpPr>
        <p:spPr/>
        <p:txBody>
          <a:bodyPr/>
          <a:lstStyle/>
          <a:p>
            <a:r>
              <a:rPr lang="en-US" dirty="0"/>
              <a:t>Qualification of Calibration Laboratories</a:t>
            </a:r>
            <a:br>
              <a:rPr lang="en-US" dirty="0"/>
            </a:br>
            <a:endParaRPr lang="en-US" dirty="0"/>
          </a:p>
        </p:txBody>
      </p:sp>
      <p:sp>
        <p:nvSpPr>
          <p:cNvPr id="3" name="Content Placeholder 2">
            <a:extLst>
              <a:ext uri="{FF2B5EF4-FFF2-40B4-BE49-F238E27FC236}">
                <a16:creationId xmlns:a16="http://schemas.microsoft.com/office/drawing/2014/main" id="{A31A0424-9E54-7F3B-C12D-DC39BF6207A6}"/>
              </a:ext>
            </a:extLst>
          </p:cNvPr>
          <p:cNvSpPr>
            <a:spLocks noGrp="1"/>
          </p:cNvSpPr>
          <p:nvPr>
            <p:ph idx="1"/>
          </p:nvPr>
        </p:nvSpPr>
        <p:spPr/>
        <p:txBody>
          <a:bodyPr>
            <a:normAutofit fontScale="92500" lnSpcReduction="10000"/>
          </a:bodyPr>
          <a:lstStyle/>
          <a:p>
            <a:r>
              <a:rPr lang="en-US" dirty="0"/>
              <a:t>1.	The Organization does not, generally, perform any in-house calibration. Exceptions may be for specialty mounting fixtures where specific dimensions of the mount are required. </a:t>
            </a:r>
          </a:p>
          <a:p>
            <a:r>
              <a:rPr lang="en-US" dirty="0"/>
              <a:t>2.	Outside Calibration Laboratories shall be:</a:t>
            </a:r>
          </a:p>
          <a:p>
            <a:r>
              <a:rPr lang="en-US" dirty="0"/>
              <a:t>2.1.	Approved per the requirements of the applicable The Organization SOP for Supplier Approval &amp; Evaluation.</a:t>
            </a:r>
          </a:p>
          <a:p>
            <a:r>
              <a:rPr lang="en-US" dirty="0"/>
              <a:t>2.2.	Meet the requirements of ISO17025, or ANSI/NCSL Z540-1 and maintain traceability of all measurement standards to the NIST, or equivalent standard (i.e., NATA). </a:t>
            </a:r>
          </a:p>
          <a:p>
            <a:r>
              <a:rPr lang="en-US" dirty="0"/>
              <a:t>2.3.	Preferred accreditation through A2LA (American Association for Laboratory Accreditation – www.a2la.org). </a:t>
            </a:r>
          </a:p>
          <a:p>
            <a:endParaRPr lang="en-US" dirty="0"/>
          </a:p>
        </p:txBody>
      </p:sp>
    </p:spTree>
    <p:extLst>
      <p:ext uri="{BB962C8B-B14F-4D97-AF65-F5344CB8AC3E}">
        <p14:creationId xmlns:p14="http://schemas.microsoft.com/office/powerpoint/2010/main" val="37488767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BD8A6-9D3A-3631-6C41-5049226527A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90C9F96-B39A-191F-A61E-A4FB3DB21180}"/>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8071778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8C687-421F-0F15-C4DA-443DCC50B1C9}"/>
              </a:ext>
            </a:extLst>
          </p:cNvPr>
          <p:cNvSpPr>
            <a:spLocks noGrp="1"/>
          </p:cNvSpPr>
          <p:nvPr>
            <p:ph type="title"/>
          </p:nvPr>
        </p:nvSpPr>
        <p:spPr/>
        <p:txBody>
          <a:bodyPr/>
          <a:lstStyle/>
          <a:p>
            <a:r>
              <a:rPr lang="en-US" dirty="0"/>
              <a:t>Daily Check – Care and Use of Equipment</a:t>
            </a:r>
            <a:br>
              <a:rPr lang="en-US" dirty="0"/>
            </a:br>
            <a:endParaRPr lang="en-US" dirty="0"/>
          </a:p>
        </p:txBody>
      </p:sp>
      <p:sp>
        <p:nvSpPr>
          <p:cNvPr id="3" name="Content Placeholder 2">
            <a:extLst>
              <a:ext uri="{FF2B5EF4-FFF2-40B4-BE49-F238E27FC236}">
                <a16:creationId xmlns:a16="http://schemas.microsoft.com/office/drawing/2014/main" id="{321F6628-5BC9-C6B7-8BBF-9026E64DFE7E}"/>
              </a:ext>
            </a:extLst>
          </p:cNvPr>
          <p:cNvSpPr>
            <a:spLocks noGrp="1"/>
          </p:cNvSpPr>
          <p:nvPr>
            <p:ph idx="1"/>
          </p:nvPr>
        </p:nvSpPr>
        <p:spPr/>
        <p:txBody>
          <a:bodyPr>
            <a:normAutofit fontScale="85000" lnSpcReduction="20000"/>
          </a:bodyPr>
          <a:lstStyle/>
          <a:p>
            <a:r>
              <a:rPr lang="en-US" dirty="0"/>
              <a:t>1.	To assure calibrated tools and gauges used for product or article acceptance are protected, maintained, and used in an acceptable environment, they shall be secured in their designated areas. Portable equipment shall be secured in a designated location and issued out for use as required using an equipment checkout log.</a:t>
            </a:r>
          </a:p>
          <a:p>
            <a:r>
              <a:rPr lang="en-US" dirty="0"/>
              <a:t>2.	Before starting the inspection of any part:</a:t>
            </a:r>
          </a:p>
          <a:p>
            <a:r>
              <a:rPr lang="en-US" dirty="0"/>
              <a:t>2.1.	Check all gauges for any visible damage. Report any damage or excessive wear to QUALITY MANAGER.</a:t>
            </a:r>
          </a:p>
          <a:p>
            <a:r>
              <a:rPr lang="en-US" dirty="0"/>
              <a:t>2.2.	Check the ZERO setting. Ensure the gauge is properly zeroed (or zeroed out).</a:t>
            </a:r>
          </a:p>
          <a:p>
            <a:r>
              <a:rPr lang="en-US" dirty="0"/>
              <a:t>2.3.	Check the gauge against a standard gauge block (or other similar standard) to ensure a proper reading. </a:t>
            </a:r>
          </a:p>
          <a:p>
            <a:r>
              <a:rPr lang="en-US" dirty="0"/>
              <a:t>2.3.1.	For example, it’s good practice to check calipers or micrometers using a set of calibrated gauge blocks to ensure the accuracy of the calipers/micrometers.</a:t>
            </a:r>
          </a:p>
          <a:p>
            <a:endParaRPr lang="en-US" dirty="0"/>
          </a:p>
        </p:txBody>
      </p:sp>
    </p:spTree>
    <p:extLst>
      <p:ext uri="{BB962C8B-B14F-4D97-AF65-F5344CB8AC3E}">
        <p14:creationId xmlns:p14="http://schemas.microsoft.com/office/powerpoint/2010/main" val="15913851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B2F39-CACB-4539-9D55-1CCF643A53F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078970F-EA86-1F42-E337-C82C8256BD7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6884193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83029-7481-7BDD-E6B5-901AC247A27B}"/>
              </a:ext>
            </a:extLst>
          </p:cNvPr>
          <p:cNvSpPr>
            <a:spLocks noGrp="1"/>
          </p:cNvSpPr>
          <p:nvPr>
            <p:ph type="title"/>
          </p:nvPr>
        </p:nvSpPr>
        <p:spPr/>
        <p:txBody>
          <a:bodyPr/>
          <a:lstStyle/>
          <a:p>
            <a:r>
              <a:rPr lang="en-US" dirty="0"/>
              <a:t>Environmental Conditions</a:t>
            </a:r>
            <a:br>
              <a:rPr lang="en-US" dirty="0"/>
            </a:br>
            <a:endParaRPr lang="en-US" dirty="0"/>
          </a:p>
        </p:txBody>
      </p:sp>
      <p:sp>
        <p:nvSpPr>
          <p:cNvPr id="3" name="Content Placeholder 2">
            <a:extLst>
              <a:ext uri="{FF2B5EF4-FFF2-40B4-BE49-F238E27FC236}">
                <a16:creationId xmlns:a16="http://schemas.microsoft.com/office/drawing/2014/main" id="{2D6F7A61-B0F2-4C28-F0D7-DF2A446F57FE}"/>
              </a:ext>
            </a:extLst>
          </p:cNvPr>
          <p:cNvSpPr>
            <a:spLocks noGrp="1"/>
          </p:cNvSpPr>
          <p:nvPr>
            <p:ph idx="1"/>
          </p:nvPr>
        </p:nvSpPr>
        <p:spPr/>
        <p:txBody>
          <a:bodyPr>
            <a:normAutofit lnSpcReduction="10000"/>
          </a:bodyPr>
          <a:lstStyle/>
          <a:p>
            <a:r>
              <a:rPr lang="en-US" dirty="0"/>
              <a:t>1.	As applicable, environmental conditions for calibrations, inspections, and measurements will be controlled to a degree to ensure accuracy and repeatability of measurements. As required, inspections and measurements shall occur under standard laboratory conditions</a:t>
            </a:r>
          </a:p>
          <a:p>
            <a:r>
              <a:rPr lang="en-US" dirty="0"/>
              <a:t>2.	In situations where temperature and humidity are factors, regular checks shall be performed to verify the appropriate environmental conditions. In such cases, if the environmental conditions are outside of the prescribed range, inspections and/or measurements should be suspended until the environmental conditions have been controlled. </a:t>
            </a:r>
          </a:p>
          <a:p>
            <a:endParaRPr lang="en-US" dirty="0"/>
          </a:p>
        </p:txBody>
      </p:sp>
    </p:spTree>
    <p:extLst>
      <p:ext uri="{BB962C8B-B14F-4D97-AF65-F5344CB8AC3E}">
        <p14:creationId xmlns:p14="http://schemas.microsoft.com/office/powerpoint/2010/main" val="25212590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DCA2E-1535-91F3-11E4-FEB2310E857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E571ACE-8E46-5191-A713-EDD9F0A940D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5214700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560F4-F05A-4FE2-4A84-71EE609D2BF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36A5965-16D8-A56C-E072-5D463D471CE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1514651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TotalTime>
  <Words>1735</Words>
  <Application>Microsoft Office PowerPoint</Application>
  <PresentationFormat>Widescreen</PresentationFormat>
  <Paragraphs>83</Paragraphs>
  <Slides>26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Calibri Light</vt:lpstr>
      <vt:lpstr>Office Theme</vt:lpstr>
      <vt:lpstr>Control of Inspection, Measuring &amp; Test Equipment</vt:lpstr>
      <vt:lpstr>agenda</vt:lpstr>
      <vt:lpstr>Process</vt:lpstr>
      <vt:lpstr>PowerPoint Presentation</vt:lpstr>
      <vt:lpstr>New Gauges</vt:lpstr>
      <vt:lpstr>PowerPoint Presentation</vt:lpstr>
      <vt:lpstr>Gauge Calibration Recall Procedure</vt:lpstr>
      <vt:lpstr>PowerPoint Presentation</vt:lpstr>
      <vt:lpstr>Gauges received from the Calibration Lab </vt:lpstr>
      <vt:lpstr>PowerPoint Presentation</vt:lpstr>
      <vt:lpstr>Out of Tolerance Gauges </vt:lpstr>
      <vt:lpstr>PowerPoint Presentation</vt:lpstr>
      <vt:lpstr>Calibration Intervals </vt:lpstr>
      <vt:lpstr>PowerPoint Presentation</vt:lpstr>
      <vt:lpstr>PowerPoint Presentation</vt:lpstr>
      <vt:lpstr>Adjustment of Calibration Interval </vt:lpstr>
      <vt:lpstr>PowerPoint Presentation</vt:lpstr>
      <vt:lpstr>Damaged or Inaccurate Gauges </vt:lpstr>
      <vt:lpstr>PowerPoint Presentation</vt:lpstr>
      <vt:lpstr>Qualification of Calibration Laboratories </vt:lpstr>
      <vt:lpstr>PowerPoint Presentation</vt:lpstr>
      <vt:lpstr>Daily Check – Care and Use of Equipment </vt:lpstr>
      <vt:lpstr>PowerPoint Presentation</vt:lpstr>
      <vt:lpstr>Environmental Conditions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 of Inspection, Measuring &amp; Test Equipment</dc:title>
  <dc:creator>Brian Olea</dc:creator>
  <cp:lastModifiedBy>Brian Olea</cp:lastModifiedBy>
  <cp:revision>2</cp:revision>
  <dcterms:created xsi:type="dcterms:W3CDTF">2022-10-25T02:32:23Z</dcterms:created>
  <dcterms:modified xsi:type="dcterms:W3CDTF">2022-10-25T03:20:31Z</dcterms:modified>
</cp:coreProperties>
</file>