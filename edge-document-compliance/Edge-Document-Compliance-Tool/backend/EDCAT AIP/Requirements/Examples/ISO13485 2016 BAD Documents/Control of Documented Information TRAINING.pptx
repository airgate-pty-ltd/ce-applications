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6" d="100"/>
          <a:sy n="76" d="100"/>
        </p:scale>
        <p:origin x="7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60DF3-205B-1088-8FF8-FC1CDB5553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76C278-D0BF-14A7-9E7F-07DFB2B808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B54CBC-60DF-A2F4-D5A9-FCAE4D97B103}"/>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6A646C72-8EAB-94D6-BC64-9513F985A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469FB6-7D94-6FDD-357C-A7BD5D518349}"/>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28727546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09212-8275-413B-845B-93104F1E8C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DEA91D-5ABB-017A-A219-BA0F91FFB1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BC2724-84CC-C90E-AD52-60FEEBE4F864}"/>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74D9F591-2BAA-D871-9AD2-DDF4DF7ED3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B6231-3D50-8B78-A19D-04F15715679A}"/>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2236464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10514-2AB5-9D12-6312-8F2524BD4F6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260220-C72B-DF6D-69B1-658EC153BD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0D9514-B834-8F1B-67C9-4FA50048C553}"/>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1617ACAD-7695-279C-4259-27550DE4D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579A33-10AF-56B7-3312-4706D0E0FA83}"/>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1081754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81839-2263-B8A9-87CC-65B9EC661D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349909-8E00-7048-1E86-CD67A1AC59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08E674-DCEA-D797-37C3-243302C48C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0234AC9-26F8-C226-7A39-9E7402FA2261}"/>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6" name="Footer Placeholder 5">
            <a:extLst>
              <a:ext uri="{FF2B5EF4-FFF2-40B4-BE49-F238E27FC236}">
                <a16:creationId xmlns:a16="http://schemas.microsoft.com/office/drawing/2014/main" id="{A24FA6F8-30CE-730E-A920-30B98C2014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C0D16-F563-D6EA-9103-0B9E16E1EC57}"/>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1260508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B84E9-11EC-FB26-87FE-82D04A5220A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537CCC3-ECA5-78AF-2D77-92B98D36F4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0446D1-93AC-EA00-BF30-0D745335FA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892C32-E983-B7D1-FEE5-1807AC2974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B7DDEB-D3C2-7138-43D7-2FCD2B1B6E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28E13C6-F814-3691-58AD-A6007F9B51E8}"/>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8" name="Footer Placeholder 7">
            <a:extLst>
              <a:ext uri="{FF2B5EF4-FFF2-40B4-BE49-F238E27FC236}">
                <a16:creationId xmlns:a16="http://schemas.microsoft.com/office/drawing/2014/main" id="{6BCB4DC5-E139-F3DC-97AD-4FDC715066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329FDAF-617B-4306-0E2F-65E107664F1C}"/>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1428976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9BACE-8ED9-2984-331D-451523AFEB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2EAB1F-5BC8-EACE-657D-CD48272080B9}"/>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4" name="Footer Placeholder 3">
            <a:extLst>
              <a:ext uri="{FF2B5EF4-FFF2-40B4-BE49-F238E27FC236}">
                <a16:creationId xmlns:a16="http://schemas.microsoft.com/office/drawing/2014/main" id="{BB28A6A3-55F9-4732-4D21-8431615FC0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4A0BEDB-C1E4-AD45-70CD-A6F921CA70A8}"/>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2784055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CC8F0D-967B-8C68-44D3-AFBC158B2EDC}"/>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3" name="Footer Placeholder 2">
            <a:extLst>
              <a:ext uri="{FF2B5EF4-FFF2-40B4-BE49-F238E27FC236}">
                <a16:creationId xmlns:a16="http://schemas.microsoft.com/office/drawing/2014/main" id="{B74CCF82-D93C-B04A-1440-2FF9BE37ED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A0F712-DF93-C89C-EC77-6B24AA02C0C9}"/>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3055348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6F61-F5FC-C91A-F930-982E5A740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C669B1-F630-3595-8F30-2AF72CDB2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96A91E-C3FC-88FD-2E2D-C024B92CC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A6ADE-5321-6536-6DD1-C6AC6B386775}"/>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6" name="Footer Placeholder 5">
            <a:extLst>
              <a:ext uri="{FF2B5EF4-FFF2-40B4-BE49-F238E27FC236}">
                <a16:creationId xmlns:a16="http://schemas.microsoft.com/office/drawing/2014/main" id="{93FACBE4-33D3-D948-DF4F-E7DB14A355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E9F7E0-3033-2A49-9B94-B97698FDBA31}"/>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3548970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EBD7E-62DB-5552-920E-5F9CF1AB5D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2C86E4-B425-EA3F-23D5-0C09177D3D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28B3E0-26B4-DF92-F076-C5F3D66DCE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7FDF9E-6168-E524-B38A-B239F554741E}"/>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6" name="Footer Placeholder 5">
            <a:extLst>
              <a:ext uri="{FF2B5EF4-FFF2-40B4-BE49-F238E27FC236}">
                <a16:creationId xmlns:a16="http://schemas.microsoft.com/office/drawing/2014/main" id="{1CD02B2C-83D5-BD36-4B0C-D807D4A9E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CF2468-FCCD-25C9-A419-3C91B438E1E1}"/>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788022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73CB5-6DE2-D3CE-213F-D907A9B66C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5EFA6E5-2B1A-3CD5-FFA9-8626536EC6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F8113F-0A97-87F1-54FF-81DCD160CCEE}"/>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82E54531-04F6-D5CE-C8A4-D6E2EBD314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72C07-DB80-BA8F-6683-F6014AFAB5A8}"/>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1695843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4693D9-224A-855D-69CD-44FCA6EF2D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5699D86-383D-A523-6E77-574A0E16F8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63E15E-120D-7482-2E19-D718FA74C33B}"/>
              </a:ext>
            </a:extLst>
          </p:cNvPr>
          <p:cNvSpPr>
            <a:spLocks noGrp="1"/>
          </p:cNvSpPr>
          <p:nvPr>
            <p:ph type="dt" sz="half" idx="10"/>
          </p:nvPr>
        </p:nvSpPr>
        <p:spPr/>
        <p:txBody>
          <a:body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51C5ADA4-9742-338B-7011-AC63CACDC2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7B083C-3C47-C3B1-99BE-579B02DC0137}"/>
              </a:ext>
            </a:extLst>
          </p:cNvPr>
          <p:cNvSpPr>
            <a:spLocks noGrp="1"/>
          </p:cNvSpPr>
          <p:nvPr>
            <p:ph type="sldNum" sz="quarter" idx="12"/>
          </p:nvPr>
        </p:nvSpPr>
        <p:spPr/>
        <p:txBody>
          <a:bodyPr/>
          <a:lstStyle/>
          <a:p>
            <a:fld id="{1DF88596-ACFF-408E-92B7-C6070AE80E7F}" type="slidenum">
              <a:rPr lang="en-US" smtClean="0"/>
              <a:t>‹#›</a:t>
            </a:fld>
            <a:endParaRPr lang="en-US"/>
          </a:p>
        </p:txBody>
      </p:sp>
    </p:spTree>
    <p:extLst>
      <p:ext uri="{BB962C8B-B14F-4D97-AF65-F5344CB8AC3E}">
        <p14:creationId xmlns:p14="http://schemas.microsoft.com/office/powerpoint/2010/main" val="2284096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2B2DE4-51C4-58A8-FD1C-F5E3908E5B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977890-26A9-D006-D020-7A8709C27E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2DE493-81D8-CDE6-DDE6-76B6034327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7CD196-EE71-42F0-869C-1F8932C19F46}" type="datetimeFigureOut">
              <a:rPr lang="en-US" smtClean="0"/>
              <a:t>10/24/2022</a:t>
            </a:fld>
            <a:endParaRPr lang="en-US"/>
          </a:p>
        </p:txBody>
      </p:sp>
      <p:sp>
        <p:nvSpPr>
          <p:cNvPr id="5" name="Footer Placeholder 4">
            <a:extLst>
              <a:ext uri="{FF2B5EF4-FFF2-40B4-BE49-F238E27FC236}">
                <a16:creationId xmlns:a16="http://schemas.microsoft.com/office/drawing/2014/main" id="{9EE08090-C4A4-BD0F-58F0-38B3353C82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00C464-CF75-81A2-DD64-1FB91C777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F88596-ACFF-408E-92B7-C6070AE80E7F}" type="slidenum">
              <a:rPr lang="en-US" smtClean="0"/>
              <a:t>‹#›</a:t>
            </a:fld>
            <a:endParaRPr lang="en-US"/>
          </a:p>
        </p:txBody>
      </p:sp>
    </p:spTree>
    <p:extLst>
      <p:ext uri="{BB962C8B-B14F-4D97-AF65-F5344CB8AC3E}">
        <p14:creationId xmlns:p14="http://schemas.microsoft.com/office/powerpoint/2010/main" val="2874400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4F253-1351-17D9-AD81-29D492113055}"/>
              </a:ext>
            </a:extLst>
          </p:cNvPr>
          <p:cNvSpPr>
            <a:spLocks noGrp="1"/>
          </p:cNvSpPr>
          <p:nvPr>
            <p:ph type="ctrTitle"/>
          </p:nvPr>
        </p:nvSpPr>
        <p:spPr/>
        <p:txBody>
          <a:bodyPr/>
          <a:lstStyle/>
          <a:p>
            <a:r>
              <a:rPr lang="en-US" dirty="0"/>
              <a:t>Control of Documented Information</a:t>
            </a:r>
          </a:p>
        </p:txBody>
      </p:sp>
      <p:sp>
        <p:nvSpPr>
          <p:cNvPr id="3" name="Subtitle 2">
            <a:extLst>
              <a:ext uri="{FF2B5EF4-FFF2-40B4-BE49-F238E27FC236}">
                <a16:creationId xmlns:a16="http://schemas.microsoft.com/office/drawing/2014/main" id="{3CC5989C-C9AF-9A5D-E0FC-6DA0B412B22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99078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5C459-8202-AEF6-631C-5AF4153ECD88}"/>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0072CBD7-AB1A-0065-8CDF-2C5B56C05C25}"/>
              </a:ext>
            </a:extLst>
          </p:cNvPr>
          <p:cNvSpPr>
            <a:spLocks noGrp="1"/>
          </p:cNvSpPr>
          <p:nvPr>
            <p:ph idx="1"/>
          </p:nvPr>
        </p:nvSpPr>
        <p:spPr/>
        <p:txBody>
          <a:bodyPr/>
          <a:lstStyle/>
          <a:p>
            <a:r>
              <a:rPr lang="en-US" dirty="0"/>
              <a:t>1.	Document Creation</a:t>
            </a:r>
          </a:p>
          <a:p>
            <a:r>
              <a:rPr lang="en-US" dirty="0"/>
              <a:t>2.	Review and Approval prior to issue</a:t>
            </a:r>
          </a:p>
          <a:p>
            <a:r>
              <a:rPr lang="en-US" dirty="0"/>
              <a:t>3.	Document Identification and Distribution</a:t>
            </a:r>
          </a:p>
          <a:p>
            <a:r>
              <a:rPr lang="en-US" dirty="0"/>
              <a:t>4.	Document Numbering</a:t>
            </a:r>
          </a:p>
          <a:p>
            <a:r>
              <a:rPr lang="en-US" dirty="0"/>
              <a:t>5.	Document revisions</a:t>
            </a:r>
          </a:p>
          <a:p>
            <a:r>
              <a:rPr lang="en-US" dirty="0"/>
              <a:t>6.	Obsolete Document Disposition</a:t>
            </a:r>
          </a:p>
          <a:p>
            <a:r>
              <a:rPr lang="en-US" dirty="0"/>
              <a:t>7.	Electronic Backup</a:t>
            </a:r>
          </a:p>
          <a:p>
            <a:r>
              <a:rPr lang="en-US" dirty="0"/>
              <a:t>8.	Control of data</a:t>
            </a:r>
          </a:p>
          <a:p>
            <a:endParaRPr lang="en-US" dirty="0"/>
          </a:p>
        </p:txBody>
      </p:sp>
    </p:spTree>
    <p:extLst>
      <p:ext uri="{BB962C8B-B14F-4D97-AF65-F5344CB8AC3E}">
        <p14:creationId xmlns:p14="http://schemas.microsoft.com/office/powerpoint/2010/main" val="1186445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5DD68-D8F3-6A43-7BE4-C081A8941386}"/>
              </a:ext>
            </a:extLst>
          </p:cNvPr>
          <p:cNvSpPr>
            <a:spLocks noGrp="1"/>
          </p:cNvSpPr>
          <p:nvPr>
            <p:ph type="title"/>
          </p:nvPr>
        </p:nvSpPr>
        <p:spPr/>
        <p:txBody>
          <a:bodyPr>
            <a:normAutofit/>
          </a:bodyPr>
          <a:lstStyle/>
          <a:p>
            <a:r>
              <a:rPr lang="en-US" dirty="0"/>
              <a:t>Document Creation</a:t>
            </a:r>
          </a:p>
        </p:txBody>
      </p:sp>
      <p:sp>
        <p:nvSpPr>
          <p:cNvPr id="3" name="Content Placeholder 2">
            <a:extLst>
              <a:ext uri="{FF2B5EF4-FFF2-40B4-BE49-F238E27FC236}">
                <a16:creationId xmlns:a16="http://schemas.microsoft.com/office/drawing/2014/main" id="{1551CABC-674C-817B-C381-E7CE4D08AF65}"/>
              </a:ext>
            </a:extLst>
          </p:cNvPr>
          <p:cNvSpPr>
            <a:spLocks noGrp="1"/>
          </p:cNvSpPr>
          <p:nvPr>
            <p:ph idx="1"/>
          </p:nvPr>
        </p:nvSpPr>
        <p:spPr/>
        <p:txBody>
          <a:bodyPr>
            <a:normAutofit fontScale="55000" lnSpcReduction="20000"/>
          </a:bodyPr>
          <a:lstStyle/>
          <a:p>
            <a:r>
              <a:rPr lang="en-US" dirty="0"/>
              <a:t>1.1.	To create a document, management will assign an author for the document. Any employee may be assigned as an author for documents in their area of expertise.</a:t>
            </a:r>
          </a:p>
          <a:p>
            <a:r>
              <a:rPr lang="en-US" dirty="0"/>
              <a:t>1.2.	Authors assigned from the following departments prepare, issue, and maintain QMS documentation and the related forms as required:</a:t>
            </a:r>
          </a:p>
          <a:p>
            <a:r>
              <a:rPr lang="en-US" dirty="0"/>
              <a:t>1.2.1.	Operations: Design Engineering, Production, Warehousing, and Inventory Control.</a:t>
            </a:r>
          </a:p>
          <a:p>
            <a:r>
              <a:rPr lang="en-US" dirty="0"/>
              <a:t>1.2.2.	Sales: Marketing, Sales and Customer Service</a:t>
            </a:r>
          </a:p>
          <a:p>
            <a:r>
              <a:rPr lang="en-US" dirty="0"/>
              <a:t>1.2.3.	Accounting and Finance: Human Resources, Accounting and Purchasing</a:t>
            </a:r>
          </a:p>
          <a:p>
            <a:r>
              <a:rPr lang="en-US" dirty="0"/>
              <a:t>1.2.4.	Quality Assurance: Quality Assurance and Quality Control, Inspection and Document and Data Control</a:t>
            </a:r>
          </a:p>
          <a:p>
            <a:r>
              <a:rPr lang="en-US" dirty="0"/>
              <a:t>1.3.	Documents include:</a:t>
            </a:r>
          </a:p>
          <a:p>
            <a:r>
              <a:rPr lang="en-US" dirty="0"/>
              <a:t>1.3.1.	The Quality Manual</a:t>
            </a:r>
          </a:p>
          <a:p>
            <a:r>
              <a:rPr lang="en-US" dirty="0"/>
              <a:t>1.3.2.	Procedures</a:t>
            </a:r>
          </a:p>
          <a:p>
            <a:r>
              <a:rPr lang="en-US" dirty="0"/>
              <a:t>1.3.3.	Work Instructions</a:t>
            </a:r>
          </a:p>
          <a:p>
            <a:r>
              <a:rPr lang="en-US" dirty="0"/>
              <a:t>1.3.4.	Attachments</a:t>
            </a:r>
          </a:p>
          <a:p>
            <a:r>
              <a:rPr lang="en-US" dirty="0"/>
              <a:t>1.3.5.	Forms</a:t>
            </a:r>
          </a:p>
          <a:p>
            <a:r>
              <a:rPr lang="en-US" dirty="0"/>
              <a:t>1.3.6.	References</a:t>
            </a:r>
          </a:p>
          <a:p>
            <a:r>
              <a:rPr lang="en-US" dirty="0"/>
              <a:t>1.3.7.	Templates</a:t>
            </a:r>
          </a:p>
        </p:txBody>
      </p:sp>
    </p:spTree>
    <p:extLst>
      <p:ext uri="{BB962C8B-B14F-4D97-AF65-F5344CB8AC3E}">
        <p14:creationId xmlns:p14="http://schemas.microsoft.com/office/powerpoint/2010/main" val="3529759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3E7F5-71E4-97F0-76AB-D28098F728B5}"/>
              </a:ext>
            </a:extLst>
          </p:cNvPr>
          <p:cNvSpPr>
            <a:spLocks noGrp="1"/>
          </p:cNvSpPr>
          <p:nvPr>
            <p:ph type="title"/>
          </p:nvPr>
        </p:nvSpPr>
        <p:spPr/>
        <p:txBody>
          <a:bodyPr>
            <a:normAutofit/>
          </a:bodyPr>
          <a:lstStyle/>
          <a:p>
            <a:r>
              <a:rPr lang="en-US" dirty="0"/>
              <a:t>Review and Approval prior to issue</a:t>
            </a:r>
          </a:p>
        </p:txBody>
      </p:sp>
      <p:sp>
        <p:nvSpPr>
          <p:cNvPr id="3" name="Content Placeholder 2">
            <a:extLst>
              <a:ext uri="{FF2B5EF4-FFF2-40B4-BE49-F238E27FC236}">
                <a16:creationId xmlns:a16="http://schemas.microsoft.com/office/drawing/2014/main" id="{EA06D004-051A-D47E-5853-5081B87D8416}"/>
              </a:ext>
            </a:extLst>
          </p:cNvPr>
          <p:cNvSpPr>
            <a:spLocks noGrp="1"/>
          </p:cNvSpPr>
          <p:nvPr>
            <p:ph idx="1"/>
          </p:nvPr>
        </p:nvSpPr>
        <p:spPr/>
        <p:txBody>
          <a:bodyPr/>
          <a:lstStyle/>
          <a:p>
            <a:r>
              <a:rPr lang="en-US" dirty="0"/>
              <a:t>2.1.	The author submits the documents to the department manager / supervisor for review and approval; they electronically approve the document with date and time added to the database.</a:t>
            </a:r>
          </a:p>
        </p:txBody>
      </p:sp>
    </p:spTree>
    <p:extLst>
      <p:ext uri="{BB962C8B-B14F-4D97-AF65-F5344CB8AC3E}">
        <p14:creationId xmlns:p14="http://schemas.microsoft.com/office/powerpoint/2010/main" val="19079620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9873A-9E2E-391E-0A0E-A3649B7ACE81}"/>
              </a:ext>
            </a:extLst>
          </p:cNvPr>
          <p:cNvSpPr>
            <a:spLocks noGrp="1"/>
          </p:cNvSpPr>
          <p:nvPr>
            <p:ph type="title"/>
          </p:nvPr>
        </p:nvSpPr>
        <p:spPr/>
        <p:txBody>
          <a:bodyPr>
            <a:normAutofit/>
          </a:bodyPr>
          <a:lstStyle/>
          <a:p>
            <a:r>
              <a:rPr lang="en-US" dirty="0"/>
              <a:t>Document Identification and Distribution</a:t>
            </a:r>
          </a:p>
        </p:txBody>
      </p:sp>
      <p:sp>
        <p:nvSpPr>
          <p:cNvPr id="3" name="Content Placeholder 2">
            <a:extLst>
              <a:ext uri="{FF2B5EF4-FFF2-40B4-BE49-F238E27FC236}">
                <a16:creationId xmlns:a16="http://schemas.microsoft.com/office/drawing/2014/main" id="{9DD56C52-0F8E-A090-794D-D69FDDDC5AAC}"/>
              </a:ext>
            </a:extLst>
          </p:cNvPr>
          <p:cNvSpPr>
            <a:spLocks noGrp="1"/>
          </p:cNvSpPr>
          <p:nvPr>
            <p:ph idx="1"/>
          </p:nvPr>
        </p:nvSpPr>
        <p:spPr/>
        <p:txBody>
          <a:bodyPr/>
          <a:lstStyle/>
          <a:p>
            <a:r>
              <a:rPr lang="en-US" dirty="0"/>
              <a:t>3.1.	All documents contain the following information:</a:t>
            </a:r>
          </a:p>
          <a:p>
            <a:r>
              <a:rPr lang="en-US" dirty="0"/>
              <a:t>3.1.1.	Company name </a:t>
            </a:r>
          </a:p>
          <a:p>
            <a:r>
              <a:rPr lang="en-US" dirty="0"/>
              <a:t>3.1.2.	Title</a:t>
            </a:r>
          </a:p>
          <a:p>
            <a:r>
              <a:rPr lang="en-US" dirty="0"/>
              <a:t>3.1.3.	Document Number</a:t>
            </a:r>
          </a:p>
          <a:p>
            <a:r>
              <a:rPr lang="en-US" dirty="0"/>
              <a:t>3.1.4.	Current Revision and Date</a:t>
            </a:r>
          </a:p>
          <a:p>
            <a:endParaRPr lang="en-US" dirty="0"/>
          </a:p>
        </p:txBody>
      </p:sp>
    </p:spTree>
    <p:extLst>
      <p:ext uri="{BB962C8B-B14F-4D97-AF65-F5344CB8AC3E}">
        <p14:creationId xmlns:p14="http://schemas.microsoft.com/office/powerpoint/2010/main" val="3813844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FC2AD-A8BE-DC13-5619-7708F34C8DE7}"/>
              </a:ext>
            </a:extLst>
          </p:cNvPr>
          <p:cNvSpPr>
            <a:spLocks noGrp="1"/>
          </p:cNvSpPr>
          <p:nvPr>
            <p:ph type="title"/>
          </p:nvPr>
        </p:nvSpPr>
        <p:spPr/>
        <p:txBody>
          <a:bodyPr>
            <a:normAutofit/>
          </a:bodyPr>
          <a:lstStyle/>
          <a:p>
            <a:r>
              <a:rPr lang="en-US" dirty="0"/>
              <a:t>Document Numbering</a:t>
            </a:r>
          </a:p>
        </p:txBody>
      </p:sp>
      <p:sp>
        <p:nvSpPr>
          <p:cNvPr id="3" name="Content Placeholder 2">
            <a:extLst>
              <a:ext uri="{FF2B5EF4-FFF2-40B4-BE49-F238E27FC236}">
                <a16:creationId xmlns:a16="http://schemas.microsoft.com/office/drawing/2014/main" id="{F4D7264E-5CE1-7B10-FB2D-6DF469F4A479}"/>
              </a:ext>
            </a:extLst>
          </p:cNvPr>
          <p:cNvSpPr>
            <a:spLocks noGrp="1"/>
          </p:cNvSpPr>
          <p:nvPr>
            <p:ph idx="1"/>
          </p:nvPr>
        </p:nvSpPr>
        <p:spPr/>
        <p:txBody>
          <a:bodyPr>
            <a:normAutofit fontScale="47500" lnSpcReduction="20000"/>
          </a:bodyPr>
          <a:lstStyle/>
          <a:p>
            <a:r>
              <a:rPr lang="en-US" dirty="0"/>
              <a:t>4.1.	Procedures, work instructions, forms, etc., are identified using the following scheme:</a:t>
            </a:r>
          </a:p>
          <a:p>
            <a:r>
              <a:rPr lang="en-US" dirty="0"/>
              <a:t>4.1.1.	Prefix represents the type of document.</a:t>
            </a:r>
          </a:p>
          <a:p>
            <a:r>
              <a:rPr lang="en-US" dirty="0"/>
              <a:t>4.1.1.1.	PRO 	= Procedure</a:t>
            </a:r>
          </a:p>
          <a:p>
            <a:r>
              <a:rPr lang="en-US" dirty="0"/>
              <a:t>4.1.1.2.	WOR 	= Work Instruction</a:t>
            </a:r>
          </a:p>
          <a:p>
            <a:r>
              <a:rPr lang="en-US" dirty="0"/>
              <a:t>4.1.1.3.	FOR	= Form</a:t>
            </a:r>
          </a:p>
          <a:p>
            <a:r>
              <a:rPr lang="en-US" dirty="0"/>
              <a:t>4.1.1.4.	Etc.</a:t>
            </a:r>
          </a:p>
          <a:p>
            <a:r>
              <a:rPr lang="en-US" dirty="0"/>
              <a:t>4.2.	Followed by specific number. This could be in relation to the ISO 13485 standard or a sequential number provided by Dot Compliance.</a:t>
            </a:r>
          </a:p>
          <a:p>
            <a:r>
              <a:rPr lang="en-US" dirty="0"/>
              <a:t>4.3.	Authors obtain the document number from Dot Compliance database.</a:t>
            </a:r>
          </a:p>
          <a:p>
            <a:r>
              <a:rPr lang="en-US" dirty="0"/>
              <a:t>4.4.	Authors or other responsible persons obtain customer or regulatory agency approvals as required by contract or regulatory requirements.</a:t>
            </a:r>
          </a:p>
          <a:p>
            <a:r>
              <a:rPr lang="en-US" dirty="0"/>
              <a:t>4.5.	Approved documents are submitted to the quality manager and entered on the Master Document List. Approved documents containing original signatures are the “Master” copies and are kept in the Master Document file.</a:t>
            </a:r>
          </a:p>
          <a:p>
            <a:r>
              <a:rPr lang="en-US" dirty="0"/>
              <a:t>4.6.	The quality manager posts new and revised documents on the network and may distribute hard copies to points of use according to the Master List. </a:t>
            </a:r>
          </a:p>
          <a:p>
            <a:r>
              <a:rPr lang="en-US" dirty="0"/>
              <a:t>4.7.	Hard copies are controlled by listing the distribution of the document on the master list to indicate they are controlled. Forms may be printed on white paper and loss or deterioration of documents is prevented.</a:t>
            </a:r>
          </a:p>
          <a:p>
            <a:r>
              <a:rPr lang="en-US" dirty="0"/>
              <a:t>4.8.	The document templates for the manual, procedures and work instructions include an auto print date. Electronic copies of the Manual, the Procedures, and Work Instructions that are printed for use are controlled by this print date. Printed copies are only valid for 24 hours from the print date unless stamped “controlled copy” in red ink. Copies of these controlled documents are not authorized. </a:t>
            </a:r>
          </a:p>
          <a:p>
            <a:endParaRPr lang="en-US" dirty="0"/>
          </a:p>
        </p:txBody>
      </p:sp>
    </p:spTree>
    <p:extLst>
      <p:ext uri="{BB962C8B-B14F-4D97-AF65-F5344CB8AC3E}">
        <p14:creationId xmlns:p14="http://schemas.microsoft.com/office/powerpoint/2010/main" val="34915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D1BCE-6DE3-DCA0-E8B6-5CD1CB6D7674}"/>
              </a:ext>
            </a:extLst>
          </p:cNvPr>
          <p:cNvSpPr>
            <a:spLocks noGrp="1"/>
          </p:cNvSpPr>
          <p:nvPr>
            <p:ph type="title"/>
          </p:nvPr>
        </p:nvSpPr>
        <p:spPr/>
        <p:txBody>
          <a:bodyPr>
            <a:normAutofit fontScale="90000"/>
          </a:bodyPr>
          <a:lstStyle/>
          <a:p>
            <a:br>
              <a:rPr lang="en-US" dirty="0"/>
            </a:br>
            <a:r>
              <a:rPr lang="en-US" dirty="0"/>
              <a:t>Document revisions</a:t>
            </a:r>
            <a:br>
              <a:rPr lang="en-US" dirty="0"/>
            </a:br>
            <a:endParaRPr lang="en-US" dirty="0"/>
          </a:p>
        </p:txBody>
      </p:sp>
      <p:sp>
        <p:nvSpPr>
          <p:cNvPr id="3" name="Content Placeholder 2">
            <a:extLst>
              <a:ext uri="{FF2B5EF4-FFF2-40B4-BE49-F238E27FC236}">
                <a16:creationId xmlns:a16="http://schemas.microsoft.com/office/drawing/2014/main" id="{A079D98B-E629-A5B7-26DC-43A479AECCC7}"/>
              </a:ext>
            </a:extLst>
          </p:cNvPr>
          <p:cNvSpPr>
            <a:spLocks noGrp="1"/>
          </p:cNvSpPr>
          <p:nvPr>
            <p:ph idx="1"/>
          </p:nvPr>
        </p:nvSpPr>
        <p:spPr/>
        <p:txBody>
          <a:bodyPr>
            <a:normAutofit fontScale="77500" lnSpcReduction="20000"/>
          </a:bodyPr>
          <a:lstStyle/>
          <a:p>
            <a:r>
              <a:rPr lang="en-US" dirty="0"/>
              <a:t>5.1.	Documents are reviewed during regular use and during internal audits. Documents are updated as found necessary during these reviews.</a:t>
            </a:r>
          </a:p>
          <a:p>
            <a:r>
              <a:rPr lang="en-US" dirty="0"/>
              <a:t>5.2.	Documents are revised to update or clarify information using Dot Compliance suite.</a:t>
            </a:r>
          </a:p>
          <a:p>
            <a:r>
              <a:rPr lang="en-US" dirty="0"/>
              <a:t>5.3.	Revisions to procedures and the description of changes are indicated in the table in the revisions section at the end of the procedure. For example, the letter A in the table and at the end of the procedure number represents the initial issue for procedure P-424.</a:t>
            </a:r>
          </a:p>
          <a:p>
            <a:r>
              <a:rPr lang="en-US" dirty="0"/>
              <a:t>5.3.1.	Revisions to documents go through the preceding document approval, identification and distribution steps. Document changes are approved by an individual in the same function that performed the original review or by another designated function with access to pertinent background information.</a:t>
            </a:r>
          </a:p>
          <a:p>
            <a:r>
              <a:rPr lang="en-US" dirty="0"/>
              <a:t>5.3.2.	The approved document is signed by the approver indicating approval.</a:t>
            </a:r>
          </a:p>
          <a:p>
            <a:r>
              <a:rPr lang="en-US" dirty="0"/>
              <a:t>5.3.3.	For QSR 820.40 the changes to documents are immediately communicated via Dot Compliance.</a:t>
            </a:r>
          </a:p>
          <a:p>
            <a:endParaRPr lang="en-US" dirty="0"/>
          </a:p>
        </p:txBody>
      </p:sp>
    </p:spTree>
    <p:extLst>
      <p:ext uri="{BB962C8B-B14F-4D97-AF65-F5344CB8AC3E}">
        <p14:creationId xmlns:p14="http://schemas.microsoft.com/office/powerpoint/2010/main" val="91976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F1D28-AD01-0270-4A73-D26F001B83B3}"/>
              </a:ext>
            </a:extLst>
          </p:cNvPr>
          <p:cNvSpPr>
            <a:spLocks noGrp="1"/>
          </p:cNvSpPr>
          <p:nvPr>
            <p:ph type="title"/>
          </p:nvPr>
        </p:nvSpPr>
        <p:spPr/>
        <p:txBody>
          <a:bodyPr>
            <a:normAutofit fontScale="90000"/>
          </a:bodyPr>
          <a:lstStyle/>
          <a:p>
            <a:br>
              <a:rPr lang="en-US" dirty="0"/>
            </a:br>
            <a:r>
              <a:rPr lang="en-US" dirty="0"/>
              <a:t>Obsolete Document Disposition</a:t>
            </a:r>
            <a:br>
              <a:rPr lang="en-US" dirty="0"/>
            </a:br>
            <a:endParaRPr lang="en-US" dirty="0"/>
          </a:p>
        </p:txBody>
      </p:sp>
      <p:sp>
        <p:nvSpPr>
          <p:cNvPr id="3" name="Content Placeholder 2">
            <a:extLst>
              <a:ext uri="{FF2B5EF4-FFF2-40B4-BE49-F238E27FC236}">
                <a16:creationId xmlns:a16="http://schemas.microsoft.com/office/drawing/2014/main" id="{D2B6F6D4-3385-A8B8-6070-4A749F3854EA}"/>
              </a:ext>
            </a:extLst>
          </p:cNvPr>
          <p:cNvSpPr>
            <a:spLocks noGrp="1"/>
          </p:cNvSpPr>
          <p:nvPr>
            <p:ph idx="1"/>
          </p:nvPr>
        </p:nvSpPr>
        <p:spPr/>
        <p:txBody>
          <a:bodyPr/>
          <a:lstStyle/>
          <a:p>
            <a:r>
              <a:rPr lang="en-US" dirty="0"/>
              <a:t>6.1.	Any obsolete copies are maintained in the Dot Compliance suite. Documents used to manufacture or test medical devices will be maintained for at least the lifetime of the device, and not less that retention of related records, or as specified by regulatory requirements</a:t>
            </a:r>
          </a:p>
          <a:p>
            <a:r>
              <a:rPr lang="en-US" dirty="0"/>
              <a:t>6.2.	The archive copy is maintained in the Dot Compliance suite.</a:t>
            </a:r>
          </a:p>
          <a:p>
            <a:endParaRPr lang="en-US" dirty="0"/>
          </a:p>
        </p:txBody>
      </p:sp>
    </p:spTree>
    <p:extLst>
      <p:ext uri="{BB962C8B-B14F-4D97-AF65-F5344CB8AC3E}">
        <p14:creationId xmlns:p14="http://schemas.microsoft.com/office/powerpoint/2010/main" val="909925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E3CFB-E358-FFDF-9E29-0423BDBEB78A}"/>
              </a:ext>
            </a:extLst>
          </p:cNvPr>
          <p:cNvSpPr>
            <a:spLocks noGrp="1"/>
          </p:cNvSpPr>
          <p:nvPr>
            <p:ph type="title"/>
          </p:nvPr>
        </p:nvSpPr>
        <p:spPr/>
        <p:txBody>
          <a:bodyPr>
            <a:normAutofit fontScale="90000"/>
          </a:bodyPr>
          <a:lstStyle/>
          <a:p>
            <a:br>
              <a:rPr lang="en-US" dirty="0"/>
            </a:br>
            <a:r>
              <a:rPr lang="en-US" dirty="0"/>
              <a:t>Electronic Backup</a:t>
            </a:r>
            <a:br>
              <a:rPr lang="en-US" dirty="0"/>
            </a:br>
            <a:endParaRPr lang="en-US" dirty="0"/>
          </a:p>
        </p:txBody>
      </p:sp>
      <p:sp>
        <p:nvSpPr>
          <p:cNvPr id="3" name="Content Placeholder 2">
            <a:extLst>
              <a:ext uri="{FF2B5EF4-FFF2-40B4-BE49-F238E27FC236}">
                <a16:creationId xmlns:a16="http://schemas.microsoft.com/office/drawing/2014/main" id="{D4ECBD9A-7CD6-475F-25CB-8ABB5308C7E5}"/>
              </a:ext>
            </a:extLst>
          </p:cNvPr>
          <p:cNvSpPr>
            <a:spLocks noGrp="1"/>
          </p:cNvSpPr>
          <p:nvPr>
            <p:ph idx="1"/>
          </p:nvPr>
        </p:nvSpPr>
        <p:spPr/>
        <p:txBody>
          <a:bodyPr/>
          <a:lstStyle/>
          <a:p>
            <a:r>
              <a:rPr lang="en-US" dirty="0"/>
              <a:t>7.1.	Company QMS documentation is stored on the cloud based system maintained by Dot Compliance. An electronic backup is made daily by Dot Compliance. Electronic records are controlled with procedure P-425 for control of quality records.</a:t>
            </a:r>
          </a:p>
        </p:txBody>
      </p:sp>
    </p:spTree>
    <p:extLst>
      <p:ext uri="{BB962C8B-B14F-4D97-AF65-F5344CB8AC3E}">
        <p14:creationId xmlns:p14="http://schemas.microsoft.com/office/powerpoint/2010/main" val="3300693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F6472-D37E-50DC-3378-5ECA3F67CA84}"/>
              </a:ext>
            </a:extLst>
          </p:cNvPr>
          <p:cNvSpPr>
            <a:spLocks noGrp="1"/>
          </p:cNvSpPr>
          <p:nvPr>
            <p:ph type="title"/>
          </p:nvPr>
        </p:nvSpPr>
        <p:spPr/>
        <p:txBody>
          <a:bodyPr>
            <a:normAutofit/>
          </a:bodyPr>
          <a:lstStyle/>
          <a:p>
            <a:br>
              <a:rPr lang="en-US" dirty="0"/>
            </a:br>
            <a:r>
              <a:rPr lang="en-US" dirty="0"/>
              <a:t>Control of data</a:t>
            </a:r>
          </a:p>
        </p:txBody>
      </p:sp>
      <p:sp>
        <p:nvSpPr>
          <p:cNvPr id="3" name="Content Placeholder 2">
            <a:extLst>
              <a:ext uri="{FF2B5EF4-FFF2-40B4-BE49-F238E27FC236}">
                <a16:creationId xmlns:a16="http://schemas.microsoft.com/office/drawing/2014/main" id="{B54DC0D4-3C64-6CA3-B4FC-1DB85ED168AF}"/>
              </a:ext>
            </a:extLst>
          </p:cNvPr>
          <p:cNvSpPr>
            <a:spLocks noGrp="1"/>
          </p:cNvSpPr>
          <p:nvPr>
            <p:ph idx="1"/>
          </p:nvPr>
        </p:nvSpPr>
        <p:spPr/>
        <p:txBody>
          <a:bodyPr>
            <a:normAutofit fontScale="55000" lnSpcReduction="20000"/>
          </a:bodyPr>
          <a:lstStyle/>
          <a:p>
            <a:r>
              <a:rPr lang="en-US" dirty="0"/>
              <a:t>8.1.	All programs used for control of operation equipment, calculations or analysis are controlled. They are listed on the software spreadsheet with revision date and location of the program. </a:t>
            </a:r>
          </a:p>
          <a:p>
            <a:r>
              <a:rPr lang="en-US" dirty="0"/>
              <a:t>8.2.	VP of operations / engineers maintain programs controlling equipment in a protected file. Operators use read-only copies of the programs.  </a:t>
            </a:r>
          </a:p>
          <a:p>
            <a:r>
              <a:rPr lang="en-US" dirty="0"/>
              <a:t>8.3.	Records of external origin are controlled by the user of the documents, for example:</a:t>
            </a:r>
          </a:p>
          <a:p>
            <a:r>
              <a:rPr lang="en-US" dirty="0"/>
              <a:t>8.3.1.	International standards, statutory and regulatory documents are the responsibility of the Management representative, </a:t>
            </a:r>
          </a:p>
          <a:p>
            <a:r>
              <a:rPr lang="en-US" dirty="0"/>
              <a:t>8.3.2.	Customer documents are controlled as required by the Customer related processes and procedure P-720.</a:t>
            </a:r>
          </a:p>
          <a:p>
            <a:r>
              <a:rPr lang="en-US" dirty="0"/>
              <a:t>8.4.	For each type or model of medical device, VP of operations / engineers establish and maintain a file containing or referencing documents generated to demonstrate conformance to ISO 13485:2016 and (21 CFR 820.181) requirements, compliance with the applicable regulatory requirements and conformity with design and development requirements. </a:t>
            </a:r>
          </a:p>
          <a:p>
            <a:r>
              <a:rPr lang="en-US" dirty="0"/>
              <a:t>8.5.	The documents define the complete manufacturing process including, as applicable, requirements for installation and servicing. As identified with procedures P-710 for planning of product realization processes and P-730 for design and development, the medical device files include as required information such as:</a:t>
            </a:r>
          </a:p>
          <a:p>
            <a:r>
              <a:rPr lang="en-US" dirty="0"/>
              <a:t>8.5.1.	The general description of the medical device intended use or purpose, and labelling, including any instructions for use, </a:t>
            </a:r>
          </a:p>
          <a:p>
            <a:r>
              <a:rPr lang="en-US" dirty="0"/>
              <a:t>8.5.2.	Design and development specifications for the product, and records of changes,</a:t>
            </a:r>
          </a:p>
          <a:p>
            <a:r>
              <a:rPr lang="en-US" dirty="0"/>
              <a:t>8.5.3.	Procedures or specifications for manufacturing, packaging, storage, handling and distribution.</a:t>
            </a:r>
          </a:p>
          <a:p>
            <a:r>
              <a:rPr lang="en-US" dirty="0"/>
              <a:t>8.5.4.	Measuring and monitoring procedures.</a:t>
            </a:r>
          </a:p>
        </p:txBody>
      </p:sp>
    </p:spTree>
    <p:extLst>
      <p:ext uri="{BB962C8B-B14F-4D97-AF65-F5344CB8AC3E}">
        <p14:creationId xmlns:p14="http://schemas.microsoft.com/office/powerpoint/2010/main" val="1635140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44813-E236-0A00-39CF-AFD126741A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7F7C90C-E9F4-D034-C5E3-C96166D4759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72709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8E160-1935-2E50-AD94-CCBC1E9968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59446C-9ECB-296C-43E6-2F639D1725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09917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A8701-AD39-01E2-849F-D8E8EB4A0A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9AA065-806D-2CD3-E0F0-EC34E9B346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993660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F914-DE66-AB80-0F3A-ADBA69680A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7603E6-311C-795B-1408-C8BACDC695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46097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F57AB-5B5D-3C04-1A90-A880183107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7D84EB-8B65-FE26-B4F5-A74E1525564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90196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29A2B-CACD-042B-BE6C-21ED9D9BBC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53E022-4D6D-48E7-4331-8928C9231E4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801234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TotalTime>
  <Words>1158</Words>
  <Application>Microsoft Office PowerPoint</Application>
  <PresentationFormat>Widescreen</PresentationFormat>
  <Paragraphs>71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Control of Documented Information</vt:lpstr>
      <vt:lpstr>agenda</vt:lpstr>
      <vt:lpstr>Document Creation</vt:lpstr>
      <vt:lpstr>Review and Approval prior to issue</vt:lpstr>
      <vt:lpstr>Document Identification and Distribution</vt:lpstr>
      <vt:lpstr>Document Numbering</vt:lpstr>
      <vt:lpstr> Document revisions </vt:lpstr>
      <vt:lpstr> Obsolete Document Disposition </vt:lpstr>
      <vt:lpstr> Electronic Backup </vt:lpstr>
      <vt:lpstr> Control of data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of Documented Information</dc:title>
  <dc:creator>Brian Olea</dc:creator>
  <cp:lastModifiedBy>Brian Olea</cp:lastModifiedBy>
  <cp:revision>1</cp:revision>
  <dcterms:created xsi:type="dcterms:W3CDTF">2022-10-25T02:32:08Z</dcterms:created>
  <dcterms:modified xsi:type="dcterms:W3CDTF">2022-10-25T03:55:32Z</dcterms:modified>
</cp:coreProperties>
</file>